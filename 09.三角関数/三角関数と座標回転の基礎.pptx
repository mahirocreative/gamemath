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Noto Sans JP" panose="020B0200000000000000" pitchFamily="50" charset="-128"/>
      <p:regular r:id="rId11"/>
      <p:bold r:id="rId12"/>
    </p:embeddedFont>
    <p:embeddedFont>
      <p:font typeface="Poppins" panose="000005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7348BA-1955-4718-81A6-14441DA3FC5E}">
  <a:tblStyle styleId="{857348BA-1955-4718-81A6-14441DA3FC5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92" y="3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0" y="2457450"/>
            <a:ext cx="12192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三角関数と回転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0" y="3790950"/>
            <a:ext cx="1219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座標平面における回転計算の数学的基盤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2876847"/>
            <a:ext cx="5238750" cy="210681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66750" y="2048172"/>
            <a:ext cx="5238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計算の簡便さから、度数法（度）ではなく</a:t>
            </a:r>
            <a:r>
              <a:rPr lang="en-US" sz="1800" b="1" i="0" u="none" strike="noStrike" cap="none">
                <a:solidFill>
                  <a:srgbClr val="005088"/>
                </a:solidFill>
                <a:latin typeface="Noto Sans JP"/>
                <a:ea typeface="Noto Sans JP"/>
                <a:cs typeface="Noto Sans JP"/>
                <a:sym typeface="Noto Sans JP"/>
              </a:rPr>
              <a:t>弧度法（ラジアン）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が一般的に用いられます。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66750" y="5126533"/>
            <a:ext cx="5238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これにより、円周の長さ や面積 の計算がスムーズになります。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28700" y="3162597"/>
            <a:ext cx="45910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5088"/>
                </a:solidFill>
                <a:latin typeface="Noto Sans JP"/>
                <a:ea typeface="Noto Sans JP"/>
                <a:cs typeface="Noto Sans JP"/>
                <a:sym typeface="Noto Sans JP"/>
              </a:rPr>
              <a:t>定義：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0128" y="3715047"/>
            <a:ext cx="1728192" cy="47803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28700" y="4516933"/>
            <a:ext cx="4591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( ... 円周率)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0894" y="4288321"/>
            <a:ext cx="83046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40211" y="410719"/>
            <a:ext cx="4779539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弧度法とラジアン (rad)</a:t>
            </a:r>
            <a:endParaRPr dirty="0"/>
          </a:p>
        </p:txBody>
      </p:sp>
      <p:sp>
        <p:nvSpPr>
          <p:cNvPr id="105" name="Google Shape;105;p14"/>
          <p:cNvSpPr/>
          <p:nvPr/>
        </p:nvSpPr>
        <p:spPr>
          <a:xfrm>
            <a:off x="507073" y="410719"/>
            <a:ext cx="11430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F81CC0A-94C0-3109-4BE4-FD9219EAC5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450" y="334715"/>
            <a:ext cx="533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/>
        </p:nvSpPr>
        <p:spPr>
          <a:xfrm>
            <a:off x="851570" y="268732"/>
            <a:ext cx="5070732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主要な角度の三角比一覧</a:t>
            </a:r>
            <a:endParaRPr dirty="0"/>
          </a:p>
        </p:txBody>
      </p:sp>
      <p:sp>
        <p:nvSpPr>
          <p:cNvPr id="152" name="Google Shape;152;p15"/>
          <p:cNvSpPr/>
          <p:nvPr/>
        </p:nvSpPr>
        <p:spPr>
          <a:xfrm>
            <a:off x="644032" y="268732"/>
            <a:ext cx="11430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EEC242E-DD8E-2623-9B0D-B37C8AAEF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2619"/>
            <a:ext cx="12192000" cy="33327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1375" y="4310360"/>
            <a:ext cx="5429250" cy="1049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176885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176885"/>
            <a:ext cx="523875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666750" y="2405360"/>
            <a:ext cx="10858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回転の証明や計算に不可欠な法則です。特にsinとcosの和・差の式が重要です。</a:t>
            </a:r>
            <a:endParaRPr/>
          </a:p>
        </p:txBody>
      </p:sp>
      <p:pic>
        <p:nvPicPr>
          <p:cNvPr id="162" name="Google Shape;16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43325" y="4596110"/>
            <a:ext cx="4781550" cy="478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8700" y="3462635"/>
            <a:ext cx="45910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48450" y="3462635"/>
            <a:ext cx="45910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879968" y="363290"/>
            <a:ext cx="4231585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三角関数の加法定理</a:t>
            </a:r>
            <a:endParaRPr dirty="0"/>
          </a:p>
        </p:txBody>
      </p:sp>
      <p:sp>
        <p:nvSpPr>
          <p:cNvPr id="166" name="Google Shape;166;p16"/>
          <p:cNvSpPr/>
          <p:nvPr/>
        </p:nvSpPr>
        <p:spPr>
          <a:xfrm>
            <a:off x="666750" y="416399"/>
            <a:ext cx="11430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/>
          <p:nvPr/>
        </p:nvSpPr>
        <p:spPr>
          <a:xfrm>
            <a:off x="823173" y="328315"/>
            <a:ext cx="6151257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原点周りの回転：導出プロセス</a:t>
            </a:r>
            <a:endParaRPr dirty="0"/>
          </a:p>
        </p:txBody>
      </p:sp>
      <p:sp>
        <p:nvSpPr>
          <p:cNvPr id="185" name="Google Shape;185;p17"/>
          <p:cNvSpPr/>
          <p:nvPr/>
        </p:nvSpPr>
        <p:spPr>
          <a:xfrm>
            <a:off x="632673" y="376642"/>
            <a:ext cx="11430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3425428"/>
            <a:ext cx="1085850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677912" y="2433445"/>
            <a:ext cx="108585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3F0DF"/>
                </a:solidFill>
                <a:latin typeface="Noto Sans JP"/>
                <a:ea typeface="Noto Sans JP"/>
                <a:cs typeface="Noto Sans JP"/>
                <a:sym typeface="Noto Sans JP"/>
              </a:rPr>
              <a:t>点 を原点周りに 回転させた点</a:t>
            </a:r>
            <a:endParaRPr dirty="0"/>
          </a:p>
        </p:txBody>
      </p:sp>
      <p:pic>
        <p:nvPicPr>
          <p:cNvPr id="193" name="Google Shape;19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01404" y="2587228"/>
            <a:ext cx="1243607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15312" y="2587228"/>
            <a:ext cx="1446758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19200" y="3901678"/>
            <a:ext cx="98298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19200" y="4539853"/>
            <a:ext cx="98298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857250" y="808285"/>
            <a:ext cx="11201400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【</a:t>
            </a:r>
            <a:r>
              <a:rPr lang="en-US" sz="3150" b="1" i="0" u="none" strike="noStrike" cap="none" dirty="0" err="1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重要】原点周りの回転公式</a:t>
            </a:r>
            <a:endParaRPr dirty="0"/>
          </a:p>
        </p:txBody>
      </p:sp>
      <p:sp>
        <p:nvSpPr>
          <p:cNvPr id="199" name="Google Shape;199;p18"/>
          <p:cNvSpPr/>
          <p:nvPr/>
        </p:nvSpPr>
        <p:spPr>
          <a:xfrm>
            <a:off x="666750" y="808285"/>
            <a:ext cx="11430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 txBox="1"/>
          <p:nvPr/>
        </p:nvSpPr>
        <p:spPr>
          <a:xfrm>
            <a:off x="857250" y="335790"/>
            <a:ext cx="11201400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任意点周りの回転：平行移動の活用</a:t>
            </a:r>
            <a:endParaRPr dirty="0"/>
          </a:p>
        </p:txBody>
      </p:sp>
      <p:sp>
        <p:nvSpPr>
          <p:cNvPr id="218" name="Google Shape;218;p19"/>
          <p:cNvSpPr/>
          <p:nvPr/>
        </p:nvSpPr>
        <p:spPr>
          <a:xfrm>
            <a:off x="640601" y="392585"/>
            <a:ext cx="11430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3225403"/>
            <a:ext cx="10858500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666750" y="5178028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※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この式さえ覚えておけば、原点回転（c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=0, d=0）も包含できます。</a:t>
            </a:r>
            <a:endParaRPr dirty="0"/>
          </a:p>
        </p:txBody>
      </p:sp>
      <p:pic>
        <p:nvPicPr>
          <p:cNvPr id="231" name="Google Shape;23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3950" y="3606403"/>
            <a:ext cx="100203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3950" y="4177903"/>
            <a:ext cx="100203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857250" y="808285"/>
            <a:ext cx="11201400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【重要】任意点周りの回転公式</a:t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666750" y="808285"/>
            <a:ext cx="11430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92;p18">
            <a:extLst>
              <a:ext uri="{FF2B5EF4-FFF2-40B4-BE49-F238E27FC236}">
                <a16:creationId xmlns:a16="http://schemas.microsoft.com/office/drawing/2014/main" id="{FBCF2321-37D3-122A-D030-118B782E819F}"/>
              </a:ext>
            </a:extLst>
          </p:cNvPr>
          <p:cNvSpPr txBox="1"/>
          <p:nvPr/>
        </p:nvSpPr>
        <p:spPr>
          <a:xfrm>
            <a:off x="3114418" y="2402144"/>
            <a:ext cx="57626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3F0DF"/>
                </a:solidFill>
                <a:latin typeface="Noto Sans JP"/>
                <a:ea typeface="Noto Sans JP"/>
                <a:cs typeface="Noto Sans JP"/>
                <a:sym typeface="Noto Sans JP"/>
              </a:rPr>
              <a:t>点 を</a:t>
            </a:r>
            <a:r>
              <a:rPr lang="ja-JP" altLang="en-US" sz="2400" b="0" i="0" u="none" strike="noStrike" cap="none" dirty="0">
                <a:solidFill>
                  <a:srgbClr val="F3F0DF"/>
                </a:solidFill>
                <a:latin typeface="Noto Sans JP"/>
                <a:ea typeface="Noto Sans JP"/>
                <a:cs typeface="Noto Sans JP"/>
                <a:sym typeface="Noto Sans JP"/>
              </a:rPr>
              <a:t>任意</a:t>
            </a:r>
            <a:r>
              <a:rPr lang="en-US" sz="2400" b="0" i="0" u="none" strike="noStrike" cap="none" dirty="0" err="1">
                <a:solidFill>
                  <a:srgbClr val="F3F0DF"/>
                </a:solidFill>
                <a:latin typeface="Noto Sans JP"/>
                <a:ea typeface="Noto Sans JP"/>
                <a:cs typeface="Noto Sans JP"/>
                <a:sym typeface="Noto Sans JP"/>
              </a:rPr>
              <a:t>点</a:t>
            </a:r>
            <a:r>
              <a:rPr lang="en-US" altLang="ja-JP" sz="2400" b="0" i="0" u="none" strike="noStrike" cap="none" dirty="0" err="1">
                <a:solidFill>
                  <a:srgbClr val="F3F0DF"/>
                </a:solidFill>
                <a:latin typeface="Noto Sans JP"/>
                <a:ea typeface="Noto Sans JP"/>
                <a:cs typeface="Noto Sans JP"/>
                <a:sym typeface="Noto Sans JP"/>
              </a:rPr>
              <a:t>R</a:t>
            </a:r>
            <a:r>
              <a:rPr lang="en-US" altLang="ja-JP" sz="2400" b="0" i="0" u="none" strike="noStrike" cap="none" dirty="0">
                <a:solidFill>
                  <a:srgbClr val="F3F0DF"/>
                </a:solidFill>
                <a:latin typeface="Noto Sans JP"/>
                <a:ea typeface="Noto Sans JP"/>
                <a:cs typeface="Noto Sans JP"/>
                <a:sym typeface="Noto Sans JP"/>
              </a:rPr>
              <a:t>(</a:t>
            </a:r>
            <a:r>
              <a:rPr lang="en-US" altLang="ja-JP" sz="2400" b="0" i="0" u="none" strike="noStrike" cap="none" dirty="0" err="1">
                <a:solidFill>
                  <a:srgbClr val="F3F0DF"/>
                </a:solidFill>
                <a:latin typeface="Noto Sans JP"/>
                <a:ea typeface="Noto Sans JP"/>
                <a:cs typeface="Noto Sans JP"/>
                <a:sym typeface="Noto Sans JP"/>
              </a:rPr>
              <a:t>c,d</a:t>
            </a:r>
            <a:r>
              <a:rPr lang="en-US" altLang="ja-JP" sz="2400" b="0" i="0" u="none" strike="noStrike" cap="none" dirty="0">
                <a:solidFill>
                  <a:srgbClr val="F3F0DF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r>
              <a:rPr lang="en-US" sz="2400" b="0" i="0" u="none" strike="noStrike" cap="none" dirty="0" err="1">
                <a:solidFill>
                  <a:srgbClr val="F3F0DF"/>
                </a:solidFill>
                <a:latin typeface="Noto Sans JP"/>
                <a:ea typeface="Noto Sans JP"/>
                <a:cs typeface="Noto Sans JP"/>
                <a:sym typeface="Noto Sans JP"/>
              </a:rPr>
              <a:t>周りに</a:t>
            </a:r>
            <a:r>
              <a:rPr lang="en-US" sz="2400" b="0" i="0" u="none" strike="noStrike" cap="none" dirty="0">
                <a:solidFill>
                  <a:srgbClr val="F3F0DF"/>
                </a:solidFill>
                <a:latin typeface="Noto Sans JP"/>
                <a:ea typeface="Noto Sans JP"/>
                <a:cs typeface="Noto Sans JP"/>
                <a:sym typeface="Noto Sans JP"/>
              </a:rPr>
              <a:t> 回転させた点</a:t>
            </a:r>
            <a:endParaRPr dirty="0"/>
          </a:p>
        </p:txBody>
      </p:sp>
      <p:pic>
        <p:nvPicPr>
          <p:cNvPr id="4" name="Google Shape;193;p18" descr="image.png">
            <a:extLst>
              <a:ext uri="{FF2B5EF4-FFF2-40B4-BE49-F238E27FC236}">
                <a16:creationId xmlns:a16="http://schemas.microsoft.com/office/drawing/2014/main" id="{47F92B1B-91E6-4130-B8F0-59FD3F008F3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34671" y="2587228"/>
            <a:ext cx="1243607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95;p18" descr="image.png">
            <a:extLst>
              <a:ext uri="{FF2B5EF4-FFF2-40B4-BE49-F238E27FC236}">
                <a16:creationId xmlns:a16="http://schemas.microsoft.com/office/drawing/2014/main" id="{D4D78FCD-380B-7F35-BC2C-FC5C15DCD5F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15108" y="2558653"/>
            <a:ext cx="1446758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85</Words>
  <Application>Microsoft Office PowerPoint</Application>
  <PresentationFormat>ワイド画面</PresentationFormat>
  <Paragraphs>17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Noto Sans JP</vt:lpstr>
      <vt:lpstr>Calibri</vt:lpstr>
      <vt:lpstr>Poppins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内藤 真広</cp:lastModifiedBy>
  <cp:revision>20</cp:revision>
  <dcterms:modified xsi:type="dcterms:W3CDTF">2026-05-06T14:23:52Z</dcterms:modified>
</cp:coreProperties>
</file>