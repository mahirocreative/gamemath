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9" r:id="rId7"/>
    <p:sldId id="276" r:id="rId8"/>
    <p:sldId id="277" r:id="rId9"/>
    <p:sldId id="279" r:id="rId10"/>
    <p:sldId id="278" r:id="rId11"/>
    <p:sldId id="261" r:id="rId12"/>
    <p:sldId id="262" r:id="rId13"/>
    <p:sldId id="263" r:id="rId14"/>
    <p:sldId id="280" r:id="rId15"/>
    <p:sldId id="270" r:id="rId16"/>
    <p:sldId id="264" r:id="rId17"/>
    <p:sldId id="282" r:id="rId18"/>
    <p:sldId id="275" r:id="rId19"/>
    <p:sldId id="265" r:id="rId20"/>
    <p:sldId id="281" r:id="rId21"/>
    <p:sldId id="287" r:id="rId22"/>
    <p:sldId id="271" r:id="rId23"/>
    <p:sldId id="283" r:id="rId24"/>
    <p:sldId id="284" r:id="rId25"/>
    <p:sldId id="285" r:id="rId26"/>
    <p:sldId id="286" r:id="rId27"/>
    <p:sldId id="300" r:id="rId28"/>
    <p:sldId id="272" r:id="rId29"/>
    <p:sldId id="288" r:id="rId30"/>
    <p:sldId id="289" r:id="rId31"/>
    <p:sldId id="290" r:id="rId32"/>
    <p:sldId id="273" r:id="rId33"/>
    <p:sldId id="291" r:id="rId34"/>
    <p:sldId id="292" r:id="rId35"/>
    <p:sldId id="293" r:id="rId36"/>
    <p:sldId id="294" r:id="rId37"/>
    <p:sldId id="274" r:id="rId38"/>
    <p:sldId id="295" r:id="rId39"/>
    <p:sldId id="296" r:id="rId40"/>
    <p:sldId id="297" r:id="rId41"/>
    <p:sldId id="298" r:id="rId42"/>
    <p:sldId id="299" r:id="rId43"/>
  </p:sldIdLst>
  <p:sldSz cx="12192000" cy="6858000"/>
  <p:notesSz cx="6858000" cy="9144000"/>
  <p:embeddedFontLst>
    <p:embeddedFont>
      <p:font typeface="Cambria Math" panose="02040503050406030204" pitchFamily="18" charset="0"/>
      <p:regular r:id="rId45"/>
    </p:embeddedFont>
    <p:embeddedFont>
      <p:font typeface="Inter" panose="020B0600070205080204" charset="0"/>
      <p:regular r:id="rId46"/>
      <p:bold r:id="rId47"/>
      <p:italic r:id="rId48"/>
      <p:boldItalic r:id="rId49"/>
    </p:embeddedFont>
    <p:embeddedFont>
      <p:font typeface="Inter SemiBold" panose="020B0600070205080204" charset="0"/>
      <p:regular r:id="rId50"/>
      <p:bold r:id="rId51"/>
      <p:italic r:id="rId52"/>
      <p:boldItalic r:id="rId53"/>
    </p:embeddedFont>
    <p:embeddedFont>
      <p:font typeface="Noto Sans JP" panose="020B0200000000000000" pitchFamily="50" charset="-128"/>
      <p:regular r:id="rId54"/>
      <p:bold r:id="rId55"/>
    </p:embeddedFont>
    <p:embeddedFont>
      <p:font typeface="Poppins" panose="00000500000000000000" pitchFamily="2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A5AE5C-746B-482D-8075-EA727F144BAB}">
  <a:tblStyle styleId="{93A5AE5C-746B-482D-8075-EA727F144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444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5:56:57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0 327 24575,'4'1'0,"0"1"0,-1-1 0,1 1 0,-1 0 0,1 0 0,-1 0 0,0 0 0,0 1 0,6 4 0,0 1 0,23 15 0,1-2 0,1-1 0,0-1 0,2-2 0,63 21 0,-37-20 0,1-3 0,109 12 0,-135-23 0,439 31 0,-143-7 0,-111-5 0,-61-3 0,-94-10 0,79 2 0,-89-11 0,276 7 0,132 1 0,-69-3 0,-17 0 0,147-1 0,-340-5 0,111-19 0,-130 4 0,-53 8 0,164-31 0,36-12 0,-297 48 0,165-11 0,-2 0 0,-104 4 0,-2 1 0,0-3 0,124-35 0,-35 7 0,-49 14 0,-60 15 0,-41 8 0,0 0 0,-1-1 0,1 0 0,-1-1 0,1-1 0,15-7 0,35-19 0,-47 24 0,0 0 0,-1-1 0,0-1 0,22-16 0,34-19 0,-19 10 0,-37 25 0,0 0 0,25-22 0,48-41 0,-65 52 0,-16 14 0,-1 0 0,0 0 0,0 0 0,8-11 0,11-16-1365,-21 26-5461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5:57:00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33 24575,'0'-3'0,"0"1"0,0-1 0,0 0 0,0 1 0,0-1 0,-1 1 0,0-1 0,1 0 0,-2-2 0,2 5 0,0 0 0,-1 0 0,1-1 0,0 1 0,0 0 0,0 0 0,-1-1 0,1 1 0,0 0 0,-1 0 0,1 0 0,0-1 0,0 1 0,-1 0 0,1 0 0,0 0 0,-1 0 0,1 0 0,0 0 0,-1 0 0,1 0 0,0 0 0,-1 0 0,1 0 0,0 0 0,-1 0 0,1 0 0,-15 9 0,-1 6 0,-24 29 0,7-7 0,23-26 0,1 1 0,0 1 0,1-1 0,0 1 0,1 1 0,0 0 0,1-1 0,1 2 0,0-1 0,1 1 0,1-1 0,-2 18 0,-1 23 0,4 110 0,3-107 0,-1-52 0,1-1 0,-1 1 0,1-1 0,1 1 0,-1-1 0,1 1 0,0-1 0,0 0 0,1 0 0,-1 0 0,1 0 0,0 0 0,0-1 0,1 1 0,0-1 0,-1 0 0,1 0 0,1 0 0,-1-1 0,1 1 0,8 4 0,-3-2 0,-1-1 0,1-1 0,1 0 0,-1 0 0,1 0 0,-1-2 0,1 1 0,0-1 0,0-1 0,13 0 0,16 0 0,-15 0 0,0-1 0,44-6 0,-62 4 0,-1 0 0,1-1 0,-1 0 0,0 0 0,1-1 0,-2 0 0,1 0 0,0 0 0,-1-1 0,0 0 0,0 0 0,0 0 0,-1 0 0,1-1 0,-1 0 0,-1 0 0,1 0 0,-1 0 0,3-8 0,-4 9 0,0 0 0,-1 0 0,1 0 0,-1 0 0,0 0 0,-1 0 0,1 0 0,-1 0 0,0 0 0,0 0 0,-1 0 0,0-6 0,0 8 0,0-1 0,0 1 0,-1 0 0,1 0 0,-1-1 0,0 1 0,0 0 0,0 0 0,0 1 0,0-1 0,-1 0 0,1 1 0,-1-1 0,0 1 0,1 0 0,-1 0 0,0 0 0,-6-2 0,3 1 0,1 1 0,-1 1 0,0-1 0,0 1 0,1 0 0,-1 0 0,-11 1 0,-44 3 0,48-1 0,8-2 0,0 1 0,0 1 0,0-1 0,0 1 0,0 0 0,1 0 0,-1 0 0,1 0 0,-1 1 0,-4 3 0,-21 12 0,13-11 0,7-3 0,0 0 0,0 1 0,1 1 0,-1-1 0,-13 12 0,16-11-1365,1-2-5461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5:57:05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1 204 24575,'2'1'0,"-1"0"0,1 0 0,-1 0 0,1 0 0,-1 1 0,0-1 0,0 0 0,1 1 0,-1-1 0,0 1 0,1 2 0,2 2 0,42 50 0,64 64 0,-83-95 0,1-1 0,1-1 0,1-1 0,46 24 0,27 5 0,115 38 0,115 22 0,-166-57 0,-71-26 0,0-4 0,113 13 0,201 4 0,-158-19 0,138-1 0,1-22 0,-147 0 0,713 1 0,-904-3 0,102-17 0,102-32 0,87 2 0,-229 34 0,71-7 0,-124 16 0,81-19 0,-37 5 0,443-65 0,-287 28 0,70-38 0,-41 30 0,-130 34 0,-79 13 0,115-43 0,-152 47 0,-25 9 0,34-16 0,13-6 0,-47 20 0,-1 0 0,30-17 0,-31 13 0,-2 0 0,1-1 0,23-26 0,-23 23 0,-12 12 0,0-1 0,0 0 0,0 0 0,-1-1 0,6-8 0,65-119-1365,-72 126-5461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5:57:08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1 24575,'-2'5'0,"-1"0"0,0 0 0,0-1 0,0 1 0,-7 6 0,2-1 0,-7 11 0,1 0 0,1 1 0,1 1 0,1 0 0,-10 31 0,9-17 0,2 0 0,-11 71 0,20-99 0,0 0 0,1 0 0,0 0 0,1 0 0,0-1 0,0 1 0,0 0 0,1-1 0,1 1 0,3 9 0,0-6 0,0 0 0,1 0 0,1-1 0,0 1 0,18 18 0,-23-26 0,1 0 0,0 0 0,1 0 0,-1-1 0,0 1 0,1-1 0,0 0 0,0-1 0,0 1 0,0-1 0,0 0 0,0 0 0,1-1 0,-1 1 0,1-1 0,-1 0 0,1-1 0,-1 1 0,1-1 0,0-1 0,6 0 0,7 1 0,-11 0 0,-1 0 0,1 0 0,0-1 0,11-3 0,-16 3 0,0 0 0,0 0 0,-1 0 0,1-1 0,-1 1 0,1-1 0,-1 0 0,1 1 0,-1-1 0,0 0 0,0-1 0,0 1 0,0 0 0,0-1 0,2-2 0,5-9 0,-1 0 0,0 0 0,-1-1 0,-1 0 0,0 0 0,-1 0 0,-1-1 0,3-18 0,-7 32 0,0 1 0,0-1 0,0 1 0,0 0 0,0-1 0,-1 1 0,1-1 0,0 1 0,-1-1 0,1 1 0,-1 0 0,0-1 0,1 1 0,-1 0 0,0 0 0,0 0 0,0-1 0,0 1 0,0 0 0,0 0 0,0 0 0,0 1 0,-1-1 0,1 0 0,0 0 0,0 0 0,-1 1 0,1-1 0,0 1 0,-1-1 0,1 1 0,-1 0 0,1-1 0,-1 1 0,1 0 0,-2 0 0,-9-1 0,0 0 0,0 1 0,-18 1 0,14 1 0,-21-2-96,-27 2 312,58-2-364,1 1-1,0 0 1,0 1-1,0 0 1,0-1-1,0 1 1,0 1-1,0-1 0,-7 6 1,5-3-6678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041EF0F-04AC-A5D6-BA9C-612DC334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EB0BFF37-1CA4-B3CF-F47A-2733BB94C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16827DC2-05DD-D82D-4D67-91084176B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9622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25079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3CB0286-2FA9-ACBD-5469-2650C9E4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38F4E410-AD0B-09EB-DF11-F8DDD7F28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405CC17D-5942-80FB-448A-EE4077216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2479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82697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B1956D2-0AFF-26A0-7B55-38BFE8504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90477BEB-7D5B-FA12-0338-00B9CF566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F3BC80B3-F8CD-9485-0E68-632867AEB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56112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C132F2D-0E42-FAE8-0947-E7EC6517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523AB4E6-57AF-3ACF-74E8-8375883881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E75F83F9-FD22-2534-A20D-0677ED035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61516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362FEEA-4B51-3E8A-85F2-7A194F964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ED71EDB5-849A-A875-775B-8162CB7D4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364660C3-B7C0-EEBD-A615-927077997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584844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3F8D4DE-DF85-D7D7-1C82-947D3E5F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07B9C05F-D18B-81AD-5215-25EAE99F8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CC7DA02A-C7B0-1F7E-5E77-C1C57EE0B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02000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CFF7CF9-529D-4E0E-8E7E-A32AB52B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1777AEEA-C3B8-8F04-B37E-59F9199B4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61C41160-69CF-656D-983F-4C9DC63665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795369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1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200.png"/><Relationship Id="rId5" Type="http://schemas.openxmlformats.org/officeDocument/2006/relationships/image" Target="../media/image17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43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280.png"/><Relationship Id="rId4" Type="http://schemas.openxmlformats.org/officeDocument/2006/relationships/image" Target="../media/image44.png"/><Relationship Id="rId9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12" Type="http://schemas.openxmlformats.org/officeDocument/2006/relationships/image" Target="../media/image10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40.png"/><Relationship Id="rId3" Type="http://schemas.openxmlformats.org/officeDocument/2006/relationships/image" Target="../media/image112.png"/><Relationship Id="rId7" Type="http://schemas.openxmlformats.org/officeDocument/2006/relationships/image" Target="../media/image135.png"/><Relationship Id="rId12" Type="http://schemas.openxmlformats.org/officeDocument/2006/relationships/image" Target="../media/image1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38.png"/><Relationship Id="rId5" Type="http://schemas.openxmlformats.org/officeDocument/2006/relationships/image" Target="../media/image114.png"/><Relationship Id="rId10" Type="http://schemas.openxmlformats.org/officeDocument/2006/relationships/image" Target="../media/image137.png"/><Relationship Id="rId4" Type="http://schemas.openxmlformats.org/officeDocument/2006/relationships/image" Target="../media/image113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2991971" y="2473796"/>
            <a:ext cx="620805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8000" dirty="0"/>
              <a:t>数学基礎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528648" y="4112473"/>
            <a:ext cx="71347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1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数学の基礎中の基礎である</a:t>
            </a:r>
            <a:r>
              <a:rPr lang="en-US" sz="21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「</a:t>
            </a:r>
            <a:r>
              <a:rPr lang="ja-JP" altLang="en-US" sz="2100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計算</a:t>
            </a:r>
            <a:r>
              <a:rPr lang="en-US" sz="21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」</a:t>
            </a:r>
            <a:r>
              <a:rPr lang="ja-JP" altLang="en-US" sz="21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を解説します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181927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275" y="1828800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381750" y="2505543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2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基本中の基本</a:t>
            </a:r>
            <a:endParaRPr lang="ja-JP" altLang="en-US" sz="28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041201"/>
            <a:ext cx="52387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この講義では、英語で言えば「基礎単語」に相当する計算のルールを解説します。</a:t>
            </a:r>
            <a:endParaRPr lang="ja-JP" altLang="en-US" sz="18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3962400"/>
            <a:ext cx="52387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ゲーム制作はもちろん、どのような専門分野においても、まず最初に必要不可欠となる知識です。</a:t>
            </a:r>
            <a:endParaRPr lang="ja-JP" altLang="en-US" sz="18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概要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五則演算</a:t>
            </a:r>
            <a:endParaRPr kumimoji="0" lang="ja-JP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40941"/>
            <a:ext cx="3316231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3458" y="1340941"/>
            <a:ext cx="3492400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1279" y="1340942"/>
            <a:ext cx="3411457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7940" y="3136157"/>
            <a:ext cx="2433850" cy="504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4356" y="3130324"/>
            <a:ext cx="2711385" cy="49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5722" y="3106009"/>
            <a:ext cx="2399331" cy="497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3881" y="1564650"/>
            <a:ext cx="359106" cy="41040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031126" y="2112579"/>
            <a:ext cx="2555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加算</a:t>
            </a:r>
            <a:r>
              <a:rPr lang="en-US" altLang="ja-JP" sz="24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(Add)</a:t>
            </a:r>
            <a:endParaRPr lang="en-US" altLang="ja-JP" sz="240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1114845" y="2650307"/>
            <a:ext cx="2699978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足し算。「</a:t>
            </a:r>
            <a:r>
              <a:rPr lang="en-US" altLang="ja-JP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」で表します。</a:t>
            </a:r>
            <a:endParaRPr lang="ja-JP" altLang="en-US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95967" y="1545748"/>
            <a:ext cx="400033" cy="40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4498402" y="2094521"/>
            <a:ext cx="28469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減算 (Sub)</a:t>
            </a:r>
            <a:endParaRPr sz="2400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4681970" y="2596446"/>
            <a:ext cx="2711389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引き算。「-」で表します。</a:t>
            </a:r>
            <a:endParaRPr dirty="0"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63669" y="1570471"/>
            <a:ext cx="303439" cy="40458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627358" y="2101030"/>
            <a:ext cx="25192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乗算 (Mul)</a:t>
            </a:r>
            <a:endParaRPr sz="2400"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8627358" y="2650307"/>
            <a:ext cx="2750004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掛け算。「*」で表します。</a:t>
            </a:r>
            <a:endParaRPr lang="ja-JP" altLang="en-US" dirty="0"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62975" y="3334062"/>
            <a:ext cx="2091844" cy="16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30779" y="3297280"/>
            <a:ext cx="2330408" cy="1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884300" y="3284423"/>
            <a:ext cx="2062173" cy="160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90575" y="453802"/>
            <a:ext cx="1140142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加算・減算・乗算・除算・剰余</a:t>
            </a:r>
            <a:endParaRPr lang="ja-JP" altLang="en-US" sz="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dirty="0"/>
          </a:p>
        </p:txBody>
      </p:sp>
      <p:sp>
        <p:nvSpPr>
          <p:cNvPr id="132" name="Google Shape;132;p16"/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F1297C8-AFD6-A98A-A28F-1FD5DE2E89F7}"/>
              </a:ext>
            </a:extLst>
          </p:cNvPr>
          <p:cNvSpPr txBox="1"/>
          <p:nvPr/>
        </p:nvSpPr>
        <p:spPr>
          <a:xfrm>
            <a:off x="5079369" y="1120273"/>
            <a:ext cx="6097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113;p16" descr="image.png">
            <a:extLst>
              <a:ext uri="{FF2B5EF4-FFF2-40B4-BE49-F238E27FC236}">
                <a16:creationId xmlns:a16="http://schemas.microsoft.com/office/drawing/2014/main" id="{48CE5F6B-8A48-321D-8DBA-4991DDF37B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2987" y="4061433"/>
            <a:ext cx="3316231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6;p16" descr="image.png">
            <a:extLst>
              <a:ext uri="{FF2B5EF4-FFF2-40B4-BE49-F238E27FC236}">
                <a16:creationId xmlns:a16="http://schemas.microsoft.com/office/drawing/2014/main" id="{DC9FE6FF-14C6-3A61-8D60-3FB229B5B4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84177" y="5856649"/>
            <a:ext cx="2433850" cy="50445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0;p16">
            <a:extLst>
              <a:ext uri="{FF2B5EF4-FFF2-40B4-BE49-F238E27FC236}">
                <a16:creationId xmlns:a16="http://schemas.microsoft.com/office/drawing/2014/main" id="{A26C354B-D176-E239-371C-071A49C76F62}"/>
              </a:ext>
            </a:extLst>
          </p:cNvPr>
          <p:cNvSpPr txBox="1"/>
          <p:nvPr/>
        </p:nvSpPr>
        <p:spPr>
          <a:xfrm>
            <a:off x="2807363" y="4833071"/>
            <a:ext cx="2555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加算</a:t>
            </a:r>
            <a:r>
              <a:rPr lang="en-US" altLang="ja-JP" sz="24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(Add)</a:t>
            </a:r>
            <a:endParaRPr lang="en-US" altLang="ja-JP" sz="2400" dirty="0"/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BC23CCAE-BD35-0377-7DDB-FCE65A16B419}"/>
              </a:ext>
            </a:extLst>
          </p:cNvPr>
          <p:cNvSpPr txBox="1"/>
          <p:nvPr/>
        </p:nvSpPr>
        <p:spPr>
          <a:xfrm>
            <a:off x="2891082" y="5370799"/>
            <a:ext cx="2699978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割り算。「</a:t>
            </a:r>
            <a:r>
              <a:rPr lang="en-US" altLang="ja-JP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」で表します。</a:t>
            </a:r>
            <a:endParaRPr lang="ja-JP" altLang="en-US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" name="Google Shape;113;p16" descr="image.png">
            <a:extLst>
              <a:ext uri="{FF2B5EF4-FFF2-40B4-BE49-F238E27FC236}">
                <a16:creationId xmlns:a16="http://schemas.microsoft.com/office/drawing/2014/main" id="{ABEF1128-A4CF-1CEC-DDF1-45829B4F05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94" y="4061433"/>
            <a:ext cx="3316231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16;p16" descr="image.png">
            <a:extLst>
              <a:ext uri="{FF2B5EF4-FFF2-40B4-BE49-F238E27FC236}">
                <a16:creationId xmlns:a16="http://schemas.microsoft.com/office/drawing/2014/main" id="{56E40E69-5BA4-D15E-C425-EFDDF96578C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4784" y="5856649"/>
            <a:ext cx="2433850" cy="50445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0;p16">
            <a:extLst>
              <a:ext uri="{FF2B5EF4-FFF2-40B4-BE49-F238E27FC236}">
                <a16:creationId xmlns:a16="http://schemas.microsoft.com/office/drawing/2014/main" id="{E3E1969F-9074-0DAD-87E1-7594633761D1}"/>
              </a:ext>
            </a:extLst>
          </p:cNvPr>
          <p:cNvSpPr txBox="1"/>
          <p:nvPr/>
        </p:nvSpPr>
        <p:spPr>
          <a:xfrm>
            <a:off x="6487970" y="4833071"/>
            <a:ext cx="2555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ja-JP" altLang="en-US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剰余 </a:t>
            </a:r>
            <a:r>
              <a:rPr lang="en-US" altLang="ja-JP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(Mod)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sp>
        <p:nvSpPr>
          <p:cNvPr id="18" name="Google Shape;121;p16">
            <a:extLst>
              <a:ext uri="{FF2B5EF4-FFF2-40B4-BE49-F238E27FC236}">
                <a16:creationId xmlns:a16="http://schemas.microsoft.com/office/drawing/2014/main" id="{A4574147-EA6D-41A0-9134-60BC41A792F0}"/>
              </a:ext>
            </a:extLst>
          </p:cNvPr>
          <p:cNvSpPr txBox="1"/>
          <p:nvPr/>
        </p:nvSpPr>
        <p:spPr>
          <a:xfrm>
            <a:off x="6571689" y="5370799"/>
            <a:ext cx="2699978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altLang="ja-JP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余りの計算。「%」で表します</a:t>
            </a: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DDC4777-292F-170B-41E1-229299BAF30A}"/>
              </a:ext>
            </a:extLst>
          </p:cNvPr>
          <p:cNvSpPr txBox="1"/>
          <p:nvPr/>
        </p:nvSpPr>
        <p:spPr>
          <a:xfrm>
            <a:off x="3937435" y="4141068"/>
            <a:ext cx="327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</a:t>
            </a:r>
            <a:endParaRPr kumimoji="1" lang="ja-JP" altLang="en-US" sz="40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3" name="Google Shape;146;p17" descr="image.png">
            <a:extLst>
              <a:ext uri="{FF2B5EF4-FFF2-40B4-BE49-F238E27FC236}">
                <a16:creationId xmlns:a16="http://schemas.microsoft.com/office/drawing/2014/main" id="{FBFCF024-21EA-6B38-710D-2C98EA75095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35108" y="6051949"/>
            <a:ext cx="40767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56AC00B-5E57-9208-C5F2-524DCA831C7C}"/>
              </a:ext>
            </a:extLst>
          </p:cNvPr>
          <p:cNvSpPr txBox="1"/>
          <p:nvPr/>
        </p:nvSpPr>
        <p:spPr>
          <a:xfrm>
            <a:off x="7480985" y="4248296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kumimoji="1" lang="ja-JP" altLang="en-US" sz="32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5" name="Google Shape;147;p17" descr="image.png">
            <a:extLst>
              <a:ext uri="{FF2B5EF4-FFF2-40B4-BE49-F238E27FC236}">
                <a16:creationId xmlns:a16="http://schemas.microsoft.com/office/drawing/2014/main" id="{FBE99F0F-8262-D745-145A-F22DFFE5ACF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838686" y="6018390"/>
            <a:ext cx="40767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16">
            <a:extLst>
              <a:ext uri="{FF2B5EF4-FFF2-40B4-BE49-F238E27FC236}">
                <a16:creationId xmlns:a16="http://schemas.microsoft.com/office/drawing/2014/main" id="{E40F8D74-791A-F0CE-D535-FE20062CDBC4}"/>
              </a:ext>
            </a:extLst>
          </p:cNvPr>
          <p:cNvSpPr txBox="1"/>
          <p:nvPr/>
        </p:nvSpPr>
        <p:spPr>
          <a:xfrm>
            <a:off x="790575" y="453802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五則演算：演習</a:t>
            </a:r>
          </a:p>
        </p:txBody>
      </p:sp>
      <p:sp>
        <p:nvSpPr>
          <p:cNvPr id="3" name="Google Shape;132;p16">
            <a:extLst>
              <a:ext uri="{FF2B5EF4-FFF2-40B4-BE49-F238E27FC236}">
                <a16:creationId xmlns:a16="http://schemas.microsoft.com/office/drawing/2014/main" id="{2818D68F-8B34-970B-E0DD-25DF2069CDB1}"/>
              </a:ext>
            </a:extLst>
          </p:cNvPr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3510B3-9ADE-19A5-2A80-578DE3C10DBA}"/>
              </a:ext>
            </a:extLst>
          </p:cNvPr>
          <p:cNvSpPr txBox="1"/>
          <p:nvPr/>
        </p:nvSpPr>
        <p:spPr>
          <a:xfrm>
            <a:off x="666750" y="1366897"/>
            <a:ext cx="26388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5 +</a:t>
            </a:r>
            <a:r>
              <a:rPr kumimoji="1" lang="ja-JP" altLang="en-US" sz="4000" b="1" dirty="0"/>
              <a:t> </a:t>
            </a:r>
            <a:r>
              <a:rPr kumimoji="1" lang="en-US" altLang="ja-JP" sz="4000" b="1" dirty="0"/>
              <a:t>8</a:t>
            </a:r>
            <a:r>
              <a:rPr kumimoji="1" lang="ja-JP" altLang="en-US" sz="4000" b="1" dirty="0"/>
              <a:t> </a:t>
            </a:r>
            <a:r>
              <a:rPr kumimoji="1" lang="en-US" altLang="ja-JP" sz="4000" b="1" dirty="0"/>
              <a:t>=</a:t>
            </a:r>
          </a:p>
          <a:p>
            <a:r>
              <a:rPr kumimoji="1" lang="en-US" altLang="ja-JP" sz="4000" b="1" dirty="0"/>
              <a:t>1.2 + 3.8 =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42380D-D8F9-86CB-107A-C3F2E0BCCB6A}"/>
              </a:ext>
            </a:extLst>
          </p:cNvPr>
          <p:cNvSpPr txBox="1"/>
          <p:nvPr/>
        </p:nvSpPr>
        <p:spPr>
          <a:xfrm>
            <a:off x="6096000" y="1654291"/>
            <a:ext cx="30524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6 / 2 =</a:t>
            </a:r>
          </a:p>
          <a:p>
            <a:r>
              <a:rPr kumimoji="1" lang="en-US" altLang="ja-JP" sz="4000" b="1" dirty="0"/>
              <a:t>0.75 / 0.25 =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CE3C83-EF81-42B9-85D6-1BE449CC4D01}"/>
              </a:ext>
            </a:extLst>
          </p:cNvPr>
          <p:cNvSpPr txBox="1"/>
          <p:nvPr/>
        </p:nvSpPr>
        <p:spPr>
          <a:xfrm>
            <a:off x="673161" y="2890391"/>
            <a:ext cx="2624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9 – 4 =</a:t>
            </a:r>
          </a:p>
          <a:p>
            <a:r>
              <a:rPr kumimoji="1" lang="en-US" altLang="ja-JP" sz="4000" b="1" dirty="0"/>
              <a:t>4.5 – 1.2 =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4AB9CC4-787A-4E1A-8299-1A751038B297}"/>
              </a:ext>
            </a:extLst>
          </p:cNvPr>
          <p:cNvSpPr txBox="1"/>
          <p:nvPr/>
        </p:nvSpPr>
        <p:spPr>
          <a:xfrm>
            <a:off x="715640" y="4399114"/>
            <a:ext cx="25394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2 * 3 =</a:t>
            </a:r>
          </a:p>
          <a:p>
            <a:r>
              <a:rPr kumimoji="1" lang="en-US" altLang="ja-JP" sz="4000" b="1" dirty="0"/>
              <a:t>0.8 * 0.5 =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D18EA5-C1B1-45F5-976D-315B794EC48D}"/>
              </a:ext>
            </a:extLst>
          </p:cNvPr>
          <p:cNvSpPr txBox="1"/>
          <p:nvPr/>
        </p:nvSpPr>
        <p:spPr>
          <a:xfrm>
            <a:off x="6098447" y="3624221"/>
            <a:ext cx="27959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5 % 2 =</a:t>
            </a:r>
          </a:p>
          <a:p>
            <a:r>
              <a:rPr kumimoji="1" lang="en-US" altLang="ja-JP" sz="4000" b="1" dirty="0"/>
              <a:t>250 % 15 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1BDC12D-3348-18A5-36CC-E8FC5DDC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AC38E511-FCF8-D59C-A7FE-B643AFA4E5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p15">
            <a:extLst>
              <a:ext uri="{FF2B5EF4-FFF2-40B4-BE49-F238E27FC236}">
                <a16:creationId xmlns:a16="http://schemas.microsoft.com/office/drawing/2014/main" id="{F45A8D56-D61C-F82F-2B8B-7225737B9992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分数の計算</a:t>
            </a:r>
            <a:endParaRPr kumimoji="0" lang="ja-JP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4648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44140"/>
            <a:ext cx="11049000" cy="501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49" y="3411936"/>
            <a:ext cx="101822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47750" y="1891657"/>
            <a:ext cx="47529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分母を揃える（通分）</a:t>
            </a:r>
            <a:endParaRPr sz="32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1047749" y="2711597"/>
            <a:ext cx="80867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分母が異なる場合は、まず分母を同じ数に揃える必要があります。</a:t>
            </a:r>
            <a:endParaRPr sz="20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3096593" y="4642067"/>
            <a:ext cx="196229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1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例： </a:t>
            </a:r>
            <a:endParaRPr sz="3200"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58891" y="3464795"/>
            <a:ext cx="2074218" cy="457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3454" y="4761606"/>
            <a:ext cx="3885091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90575" y="503187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加算と減算</a:t>
            </a:r>
            <a:endParaRPr dirty="0"/>
          </a:p>
        </p:txBody>
      </p:sp>
      <p:sp>
        <p:nvSpPr>
          <p:cNvPr id="13" name="Google Shape;132;p16">
            <a:extLst>
              <a:ext uri="{FF2B5EF4-FFF2-40B4-BE49-F238E27FC236}">
                <a16:creationId xmlns:a16="http://schemas.microsoft.com/office/drawing/2014/main" id="{1FCC9574-DFCD-4262-A7D4-98197B2A6FEC}"/>
              </a:ext>
            </a:extLst>
          </p:cNvPr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507" y="1165697"/>
            <a:ext cx="5334000" cy="3563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463" y="1182889"/>
            <a:ext cx="5334000" cy="3563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048" y="2988910"/>
            <a:ext cx="4124325" cy="131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2988" y="2908414"/>
            <a:ext cx="4552950" cy="138557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403511" y="1515369"/>
            <a:ext cx="215156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乗算 (Mul)</a:t>
            </a:r>
            <a:endParaRPr sz="280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193519" y="2346634"/>
            <a:ext cx="424658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分母同士、分子同士を掛けます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159046" y="1453552"/>
            <a:ext cx="249012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除算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Div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280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869002" y="2264611"/>
            <a:ext cx="37433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後ろの分数を</a:t>
            </a:r>
            <a:r>
              <a:rPr 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逆数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にして掛けます。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1249896"/>
            <a:ext cx="6286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07379" y="3370499"/>
            <a:ext cx="2309994" cy="525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49161" y="1270057"/>
            <a:ext cx="673442" cy="72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45047" y="3335972"/>
            <a:ext cx="2768832" cy="53045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90575" y="534486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乗算と除算</a:t>
            </a:r>
            <a:endParaRPr dirty="0"/>
          </a:p>
        </p:txBody>
      </p:sp>
      <p:sp>
        <p:nvSpPr>
          <p:cNvPr id="18" name="Google Shape;132;p16">
            <a:extLst>
              <a:ext uri="{FF2B5EF4-FFF2-40B4-BE49-F238E27FC236}">
                <a16:creationId xmlns:a16="http://schemas.microsoft.com/office/drawing/2014/main" id="{F1143C7C-FA93-4B58-BCEE-E8BC84C1B540}"/>
              </a:ext>
            </a:extLst>
          </p:cNvPr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C8D3694-6CFF-462D-A493-273351A82453}"/>
                  </a:ext>
                </a:extLst>
              </p:cNvPr>
              <p:cNvSpPr txBox="1"/>
              <p:nvPr/>
            </p:nvSpPr>
            <p:spPr>
              <a:xfrm>
                <a:off x="2097091" y="5129120"/>
                <a:ext cx="2016237" cy="981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4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1" i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ja-JP" altLang="en-US" sz="4000" i="1">
                        <a:latin typeface="Cambria Math" panose="02040503050406030204" pitchFamily="18" charset="0"/>
                      </a:rPr>
                      <m:t>＊</m:t>
                    </m:r>
                    <m:f>
                      <m:fPr>
                        <m:ctrlPr>
                          <a:rPr lang="ja-JP" altLang="en-US" sz="4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40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en-US" sz="4000" i="0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ja-JP" altLang="en-US" sz="2000" dirty="0"/>
                  <a:t> </a:t>
                </a:r>
                <a:r>
                  <a:rPr lang="en-US" altLang="ja-JP" sz="20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4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40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en-US" sz="4000" i="0" dirty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C8D3694-6CFF-462D-A493-273351A82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091" y="5129120"/>
                <a:ext cx="2016237" cy="98161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1821CA14-2257-4206-80DB-DB10626C055C}"/>
                  </a:ext>
                </a:extLst>
              </p:cNvPr>
              <p:cNvSpPr txBox="1"/>
              <p:nvPr/>
            </p:nvSpPr>
            <p:spPr>
              <a:xfrm>
                <a:off x="7222603" y="5204137"/>
                <a:ext cx="4083572" cy="1020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4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1" i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ja-JP" altLang="en-US" sz="4000" i="1">
                        <a:latin typeface="Cambria Math" panose="02040503050406030204" pitchFamily="18" charset="0"/>
                      </a:rPr>
                      <m:t>＊</m:t>
                    </m:r>
                    <m:f>
                      <m:fPr>
                        <m:ctrlPr>
                          <a:rPr lang="ja-JP" altLang="en-US" sz="4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ja-JP" altLang="en-US" sz="4000" i="0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ja-JP" altLang="en-US" sz="2000" dirty="0"/>
                  <a:t>  </a:t>
                </a:r>
                <a:r>
                  <a:rPr lang="en-US" altLang="ja-JP" sz="2000" dirty="0"/>
                  <a:t>=</a:t>
                </a:r>
                <a:r>
                  <a:rPr lang="ja-JP" altLang="en-US" sz="2000" dirty="0"/>
                  <a:t> </a:t>
                </a:r>
                <a:r>
                  <a:rPr lang="en-US" altLang="ja-JP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4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ja-JP" sz="4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ja-JP" altLang="en-US" sz="4000" i="1">
                        <a:latin typeface="Cambria Math" panose="02040503050406030204" pitchFamily="18" charset="0"/>
                      </a:rPr>
                      <m:t>＊</m:t>
                    </m:r>
                    <m:f>
                      <m:fPr>
                        <m:ctrlPr>
                          <a:rPr lang="ja-JP" altLang="en-US" sz="4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4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ja-JP" altLang="en-US" sz="2800" dirty="0"/>
                  <a:t> </a:t>
                </a:r>
                <a:r>
                  <a:rPr lang="en-US" altLang="ja-JP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4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4000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ja-JP" altLang="en-US" sz="1800" dirty="0"/>
                  <a:t> </a:t>
                </a:r>
                <a:endParaRPr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1821CA14-2257-4206-80DB-DB10626C0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603" y="5204137"/>
                <a:ext cx="4083572" cy="10204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619125" y="5912793"/>
            <a:ext cx="101326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※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計算の途中で約分できる場合は、先に行うと数字が大きくならずミスが減ります。</a:t>
            </a:r>
            <a:endParaRPr sz="2000"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790575" y="509709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公約数と</a:t>
            </a:r>
            <a:r>
              <a:rPr lang="ja-JP" altLang="en-US" sz="36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約分</a:t>
            </a:r>
            <a:endParaRPr lang="en-US" altLang="ja-JP" sz="3600" b="1" i="0" u="none" strike="noStrike" cap="none" dirty="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" name="Google Shape;130;p16" descr="image.png">
            <a:extLst>
              <a:ext uri="{FF2B5EF4-FFF2-40B4-BE49-F238E27FC236}">
                <a16:creationId xmlns:a16="http://schemas.microsoft.com/office/drawing/2014/main" id="{6CFCFD9C-C1FF-4168-B62B-62B94E31C5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414269"/>
            <a:ext cx="5334000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35;p16">
            <a:extLst>
              <a:ext uri="{FF2B5EF4-FFF2-40B4-BE49-F238E27FC236}">
                <a16:creationId xmlns:a16="http://schemas.microsoft.com/office/drawing/2014/main" id="{F956263C-396A-4ACD-A309-6F3029C7B28A}"/>
              </a:ext>
            </a:extLst>
          </p:cNvPr>
          <p:cNvSpPr txBox="1"/>
          <p:nvPr/>
        </p:nvSpPr>
        <p:spPr>
          <a:xfrm>
            <a:off x="1013207" y="1804795"/>
            <a:ext cx="2560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公約数</a:t>
            </a:r>
            <a:endParaRPr dirty="0"/>
          </a:p>
        </p:txBody>
      </p:sp>
      <p:pic>
        <p:nvPicPr>
          <p:cNvPr id="22" name="Google Shape;132;p16" descr="image.png">
            <a:extLst>
              <a:ext uri="{FF2B5EF4-FFF2-40B4-BE49-F238E27FC236}">
                <a16:creationId xmlns:a16="http://schemas.microsoft.com/office/drawing/2014/main" id="{593A86F5-BF42-427F-97D9-0215D21A26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3207" y="3374805"/>
            <a:ext cx="4752975" cy="8444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249DEF-4038-4937-A8DD-D4A84D54C707}"/>
              </a:ext>
            </a:extLst>
          </p:cNvPr>
          <p:cNvSpPr txBox="1"/>
          <p:nvPr/>
        </p:nvSpPr>
        <p:spPr>
          <a:xfrm>
            <a:off x="1641374" y="3566920"/>
            <a:ext cx="3599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8,4</a:t>
            </a:r>
            <a:r>
              <a:rPr kumimoji="1" lang="ja-JP" altLang="en-US" sz="2800" dirty="0"/>
              <a:t>の公約数は、</a:t>
            </a:r>
            <a:r>
              <a:rPr kumimoji="1" lang="en-US" altLang="ja-JP" sz="2800" dirty="0"/>
              <a:t>2</a:t>
            </a:r>
            <a:r>
              <a:rPr kumimoji="1" lang="ja-JP" altLang="en-US" sz="2800" dirty="0"/>
              <a:t>と</a:t>
            </a:r>
            <a:r>
              <a:rPr kumimoji="1" lang="en-US" altLang="ja-JP" sz="2800" dirty="0"/>
              <a:t>4</a:t>
            </a:r>
            <a:endParaRPr kumimoji="1" lang="ja-JP" altLang="en-US" sz="2800" dirty="0"/>
          </a:p>
        </p:txBody>
      </p:sp>
      <p:sp>
        <p:nvSpPr>
          <p:cNvPr id="25" name="Google Shape;132;p16">
            <a:extLst>
              <a:ext uri="{FF2B5EF4-FFF2-40B4-BE49-F238E27FC236}">
                <a16:creationId xmlns:a16="http://schemas.microsoft.com/office/drawing/2014/main" id="{CF1F62EE-1756-4ACA-86FA-2DF32634C10D}"/>
              </a:ext>
            </a:extLst>
          </p:cNvPr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130;p16" descr="image.png">
            <a:extLst>
              <a:ext uri="{FF2B5EF4-FFF2-40B4-BE49-F238E27FC236}">
                <a16:creationId xmlns:a16="http://schemas.microsoft.com/office/drawing/2014/main" id="{EF0F1F6F-41D4-43F5-BFD6-9F1A888720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2704" y="1414269"/>
            <a:ext cx="533400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32;p16" descr="image.png">
            <a:extLst>
              <a:ext uri="{FF2B5EF4-FFF2-40B4-BE49-F238E27FC236}">
                <a16:creationId xmlns:a16="http://schemas.microsoft.com/office/drawing/2014/main" id="{050E9EA7-C3D3-434F-8BA2-BBE1966864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3228" y="3427322"/>
            <a:ext cx="4752975" cy="84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35;p16">
            <a:extLst>
              <a:ext uri="{FF2B5EF4-FFF2-40B4-BE49-F238E27FC236}">
                <a16:creationId xmlns:a16="http://schemas.microsoft.com/office/drawing/2014/main" id="{9EDEBFFA-6A7E-4D68-9FAA-A507AAC5B176}"/>
              </a:ext>
            </a:extLst>
          </p:cNvPr>
          <p:cNvSpPr txBox="1"/>
          <p:nvPr/>
        </p:nvSpPr>
        <p:spPr>
          <a:xfrm>
            <a:off x="6843229" y="1804794"/>
            <a:ext cx="256032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約分 (Reduction)</a:t>
            </a:r>
            <a:endParaRPr dirty="0"/>
          </a:p>
        </p:txBody>
      </p:sp>
      <p:sp>
        <p:nvSpPr>
          <p:cNvPr id="29" name="Google Shape;136;p16">
            <a:extLst>
              <a:ext uri="{FF2B5EF4-FFF2-40B4-BE49-F238E27FC236}">
                <a16:creationId xmlns:a16="http://schemas.microsoft.com/office/drawing/2014/main" id="{20688647-6F1B-42C0-8643-85464B888D0E}"/>
              </a:ext>
            </a:extLst>
          </p:cNvPr>
          <p:cNvSpPr txBox="1"/>
          <p:nvPr/>
        </p:nvSpPr>
        <p:spPr>
          <a:xfrm>
            <a:off x="6843229" y="2250625"/>
            <a:ext cx="45529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分子と分母を</a:t>
            </a:r>
            <a:r>
              <a:rPr 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公約数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で割り、最も簡単な形に</a:t>
            </a:r>
            <a:r>
              <a:rPr lang="ja-JP" alt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すること。</a:t>
            </a:r>
            <a:endParaRPr dirty="0"/>
          </a:p>
        </p:txBody>
      </p:sp>
      <p:pic>
        <p:nvPicPr>
          <p:cNvPr id="30" name="Google Shape;139;p16" descr="image.png">
            <a:extLst>
              <a:ext uri="{FF2B5EF4-FFF2-40B4-BE49-F238E27FC236}">
                <a16:creationId xmlns:a16="http://schemas.microsoft.com/office/drawing/2014/main" id="{4DA31CEE-A965-4FDD-82D0-62A69926C1E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89004" y="3545639"/>
            <a:ext cx="1261422" cy="6078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02987B-E9B2-4307-B6E4-B6CE051F806E}"/>
              </a:ext>
            </a:extLst>
          </p:cNvPr>
          <p:cNvSpPr txBox="1"/>
          <p:nvPr/>
        </p:nvSpPr>
        <p:spPr>
          <a:xfrm>
            <a:off x="952500" y="5052820"/>
            <a:ext cx="4512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8,16,24</a:t>
            </a:r>
            <a:r>
              <a:rPr kumimoji="1" lang="ja-JP" altLang="en-US" sz="3200" dirty="0"/>
              <a:t>の公約数は</a:t>
            </a:r>
            <a:r>
              <a:rPr kumimoji="1" lang="en-US" altLang="ja-JP" sz="3200" dirty="0"/>
              <a:t>2,4,8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9E90DC0-28BE-4274-9AC3-7B96672EC75D}"/>
                  </a:ext>
                </a:extLst>
              </p:cNvPr>
              <p:cNvSpPr txBox="1"/>
              <p:nvPr/>
            </p:nvSpPr>
            <p:spPr>
              <a:xfrm>
                <a:off x="8395430" y="4801891"/>
                <a:ext cx="2016237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8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8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800" i="0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9E90DC0-28BE-4274-9AC3-7B96672EC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430" y="4801891"/>
                <a:ext cx="2016237" cy="910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Google Shape;136;p16">
            <a:extLst>
              <a:ext uri="{FF2B5EF4-FFF2-40B4-BE49-F238E27FC236}">
                <a16:creationId xmlns:a16="http://schemas.microsoft.com/office/drawing/2014/main" id="{C53B8177-1F6A-426A-B0FC-8A06EADC86DC}"/>
              </a:ext>
            </a:extLst>
          </p:cNvPr>
          <p:cNvSpPr txBox="1"/>
          <p:nvPr/>
        </p:nvSpPr>
        <p:spPr>
          <a:xfrm>
            <a:off x="1057275" y="2260374"/>
            <a:ext cx="4552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複数の数に対して、</a:t>
            </a:r>
            <a:r>
              <a:rPr lang="ja-JP" alt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両者</a:t>
            </a:r>
            <a:r>
              <a:rPr lang="ja-JP" altLang="en-US" sz="1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を割れる数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666750" y="2444055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667500" y="2444055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66750" y="2796480"/>
            <a:ext cx="5048250" cy="41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66750" y="3335833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667500" y="3335833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66750" y="4227611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667500" y="3688258"/>
            <a:ext cx="5048250" cy="41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6667500" y="4227611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66750" y="4580036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66750" y="5132486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667500" y="4580036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667500" y="5132486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" y="196482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1904702"/>
            <a:ext cx="1112043" cy="39647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667500" y="1996081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dirty="0"/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0875" y="1904702"/>
            <a:ext cx="1106537" cy="39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2796480"/>
            <a:ext cx="1112043" cy="396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6667500" y="2856607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dirty="0"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0400" y="2796480"/>
            <a:ext cx="1027658" cy="396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666750" y="3748385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dirty="0"/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3688258"/>
            <a:ext cx="1112043" cy="39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10400" y="3688258"/>
            <a:ext cx="1146125" cy="39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0600" y="4586585"/>
            <a:ext cx="1140618" cy="39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10400" y="4580036"/>
            <a:ext cx="2116931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790575" y="572989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分数の計算：演習</a:t>
            </a:r>
            <a:endParaRPr dirty="0"/>
          </a:p>
        </p:txBody>
      </p:sp>
      <p:sp>
        <p:nvSpPr>
          <p:cNvPr id="181" name="Google Shape;181;p17"/>
          <p:cNvSpPr/>
          <p:nvPr/>
        </p:nvSpPr>
        <p:spPr>
          <a:xfrm>
            <a:off x="571500" y="458689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0" y="2343150"/>
            <a:ext cx="12192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不等式・絶対値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83;p20" descr="image.png">
            <a:extLst>
              <a:ext uri="{FF2B5EF4-FFF2-40B4-BE49-F238E27FC236}">
                <a16:creationId xmlns:a16="http://schemas.microsoft.com/office/drawing/2014/main" id="{5A543339-8220-153A-A5A7-DFA5BCF40A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63" y="4824573"/>
            <a:ext cx="5238750" cy="71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83;p20" descr="image.png">
            <a:extLst>
              <a:ext uri="{FF2B5EF4-FFF2-40B4-BE49-F238E27FC236}">
                <a16:creationId xmlns:a16="http://schemas.microsoft.com/office/drawing/2014/main" id="{B97C9D2C-52F5-DEA7-9A0E-A0BA5940DA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63" y="3996228"/>
            <a:ext cx="5238750" cy="71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83;p20" descr="image.png">
            <a:extLst>
              <a:ext uri="{FF2B5EF4-FFF2-40B4-BE49-F238E27FC236}">
                <a16:creationId xmlns:a16="http://schemas.microsoft.com/office/drawing/2014/main" id="{65F30A87-C7EA-BC1B-B686-75E6B6ED85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63" y="3138015"/>
            <a:ext cx="5238750" cy="71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83;p20" descr="image.png">
            <a:extLst>
              <a:ext uri="{FF2B5EF4-FFF2-40B4-BE49-F238E27FC236}">
                <a16:creationId xmlns:a16="http://schemas.microsoft.com/office/drawing/2014/main" id="{8A02928D-141D-0EFD-8B38-8AB4A8D8AF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63" y="2373799"/>
            <a:ext cx="5238750" cy="71446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11163" y="1480838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不等号を用いて、数量の大小関係を表した式です。</a:t>
            </a:r>
            <a:endParaRPr sz="2000"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3048683" y="4020121"/>
            <a:ext cx="269036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左辺が右辺以上</a:t>
            </a:r>
            <a:endParaRPr sz="200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不等式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528053-FC3E-1FEF-36FB-B06C1C1FFEB7}"/>
              </a:ext>
            </a:extLst>
          </p:cNvPr>
          <p:cNvSpPr txBox="1"/>
          <p:nvPr/>
        </p:nvSpPr>
        <p:spPr>
          <a:xfrm>
            <a:off x="1703786" y="2328613"/>
            <a:ext cx="765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5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 kumimoji="1" lang="ja-JP" altLang="en-US" sz="5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9BDBB2-9C9C-962C-263F-E84D73165406}"/>
              </a:ext>
            </a:extLst>
          </p:cNvPr>
          <p:cNvSpPr txBox="1"/>
          <p:nvPr/>
        </p:nvSpPr>
        <p:spPr>
          <a:xfrm>
            <a:off x="1703786" y="3057990"/>
            <a:ext cx="618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</a:t>
            </a:r>
            <a:endParaRPr kumimoji="1" lang="ja-JP" altLang="en-US" sz="54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3F8B9A-5565-3CDB-A955-75D6E417FD2B}"/>
              </a:ext>
            </a:extLst>
          </p:cNvPr>
          <p:cNvSpPr txBox="1"/>
          <p:nvPr/>
        </p:nvSpPr>
        <p:spPr>
          <a:xfrm>
            <a:off x="2644290" y="3292617"/>
            <a:ext cx="4180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左辺が右辺よりも小さい</a:t>
            </a:r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C40EAD9-DB78-8EF7-EB98-DE375206267F}"/>
              </a:ext>
            </a:extLst>
          </p:cNvPr>
          <p:cNvSpPr txBox="1"/>
          <p:nvPr/>
        </p:nvSpPr>
        <p:spPr>
          <a:xfrm>
            <a:off x="1703786" y="3906244"/>
            <a:ext cx="748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≧</a:t>
            </a:r>
            <a:endParaRPr kumimoji="1" lang="ja-JP" altLang="en-US" sz="48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4807798-3817-0DFE-5A74-AC3EB2F91B8F}"/>
              </a:ext>
            </a:extLst>
          </p:cNvPr>
          <p:cNvSpPr txBox="1"/>
          <p:nvPr/>
        </p:nvSpPr>
        <p:spPr>
          <a:xfrm>
            <a:off x="6335663" y="3981350"/>
            <a:ext cx="5238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5≧2,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10≧3,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5≧5</a:t>
            </a:r>
            <a:endParaRPr kumimoji="1" lang="ja-JP" altLang="en-US" sz="3200" dirty="0">
              <a:latin typeface="Inter" panose="020B060007020508020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F41C139-45A6-593E-BDA5-9D8E06A7BD37}"/>
              </a:ext>
            </a:extLst>
          </p:cNvPr>
          <p:cNvSpPr txBox="1"/>
          <p:nvPr/>
        </p:nvSpPr>
        <p:spPr>
          <a:xfrm>
            <a:off x="6350730" y="4772251"/>
            <a:ext cx="4372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2≦5,</a:t>
            </a:r>
            <a:r>
              <a:rPr lang="ja-JP" altLang="en-US" sz="4000" b="0" i="0" dirty="0">
                <a:effectLst/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3≦10,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5≦5</a:t>
            </a:r>
            <a:endParaRPr kumimoji="1" lang="ja-JP" altLang="en-US" sz="3200" dirty="0">
              <a:latin typeface="Inter" panose="020B0600070205080204" charset="0"/>
            </a:endParaRPr>
          </a:p>
        </p:txBody>
      </p:sp>
      <p:sp>
        <p:nvSpPr>
          <p:cNvPr id="17" name="Google Shape;166;p19">
            <a:extLst>
              <a:ext uri="{FF2B5EF4-FFF2-40B4-BE49-F238E27FC236}">
                <a16:creationId xmlns:a16="http://schemas.microsoft.com/office/drawing/2014/main" id="{A1B97F88-13F5-8C7B-5314-905A67A99606}"/>
              </a:ext>
            </a:extLst>
          </p:cNvPr>
          <p:cNvSpPr txBox="1"/>
          <p:nvPr/>
        </p:nvSpPr>
        <p:spPr>
          <a:xfrm>
            <a:off x="3048683" y="4824573"/>
            <a:ext cx="2559357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ja-JP" sz="2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左辺が右辺以下</a:t>
            </a:r>
            <a:endParaRPr sz="2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6A53FAD-782A-A487-83E2-C7C890A3A370}"/>
              </a:ext>
            </a:extLst>
          </p:cNvPr>
          <p:cNvSpPr txBox="1"/>
          <p:nvPr/>
        </p:nvSpPr>
        <p:spPr>
          <a:xfrm>
            <a:off x="1693459" y="4710696"/>
            <a:ext cx="748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≦</a:t>
            </a:r>
            <a:endParaRPr kumimoji="1" lang="ja-JP" altLang="en-US" sz="48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4ECAAC8-2584-C18E-5EA5-61C4C2D9D997}"/>
              </a:ext>
            </a:extLst>
          </p:cNvPr>
          <p:cNvSpPr txBox="1"/>
          <p:nvPr/>
        </p:nvSpPr>
        <p:spPr>
          <a:xfrm>
            <a:off x="6335664" y="3141306"/>
            <a:ext cx="3212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2&lt;5,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3&lt;10</a:t>
            </a:r>
            <a:endParaRPr kumimoji="1" lang="ja-JP" altLang="en-US" sz="3200" dirty="0">
              <a:latin typeface="Inter" panose="020B060007020508020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394438D-9FA3-AD61-C451-7D39527E528E}"/>
              </a:ext>
            </a:extLst>
          </p:cNvPr>
          <p:cNvSpPr txBox="1"/>
          <p:nvPr/>
        </p:nvSpPr>
        <p:spPr>
          <a:xfrm>
            <a:off x="2644290" y="2560398"/>
            <a:ext cx="4180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左辺が右辺よりも小さい</a:t>
            </a:r>
            <a:endParaRPr kumimoji="1" lang="ja-JP" altLang="en-US" sz="2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97CC70A-4D76-08D8-17E1-78CA9B35C2DD}"/>
              </a:ext>
            </a:extLst>
          </p:cNvPr>
          <p:cNvSpPr txBox="1"/>
          <p:nvPr/>
        </p:nvSpPr>
        <p:spPr>
          <a:xfrm>
            <a:off x="6335663" y="2373799"/>
            <a:ext cx="3212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5&gt;2,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10&gt;3</a:t>
            </a:r>
            <a:endParaRPr kumimoji="1" lang="ja-JP" altLang="en-US" sz="3200" dirty="0">
              <a:latin typeface="Inter" panose="020B060007020508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3908163"/>
            <a:ext cx="5238750" cy="71446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41714" y="2161992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| X |</a:t>
            </a:r>
            <a:endParaRPr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441714" y="4042481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Distance from Zero</a:t>
            </a:r>
            <a:endParaRPr dirty="0"/>
          </a:p>
        </p:txBody>
      </p:sp>
      <p:sp>
        <p:nvSpPr>
          <p:cNvPr id="186" name="Google Shape;186;p20"/>
          <p:cNvSpPr txBox="1"/>
          <p:nvPr/>
        </p:nvSpPr>
        <p:spPr>
          <a:xfrm>
            <a:off x="5834063" y="1934546"/>
            <a:ext cx="55006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「大きさ」を表す値</a:t>
            </a:r>
            <a:endParaRPr sz="3200" dirty="0"/>
          </a:p>
        </p:txBody>
      </p:sp>
      <p:sp>
        <p:nvSpPr>
          <p:cNvPr id="187" name="Google Shape;187;p20"/>
          <p:cNvSpPr txBox="1"/>
          <p:nvPr/>
        </p:nvSpPr>
        <p:spPr>
          <a:xfrm>
            <a:off x="6293259" y="2721022"/>
            <a:ext cx="52387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『0 からどれだけ離れているか』を表す値です。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「大きさ」と表現されることもあります。</a:t>
            </a:r>
            <a:endParaRPr sz="1800"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絶対値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E251A0-951D-2E39-54D0-F2E9D528C44A}"/>
              </a:ext>
            </a:extLst>
          </p:cNvPr>
          <p:cNvSpPr txBox="1"/>
          <p:nvPr/>
        </p:nvSpPr>
        <p:spPr>
          <a:xfrm>
            <a:off x="7455863" y="4003787"/>
            <a:ext cx="266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∣</a:t>
            </a:r>
            <a:r>
              <a:rPr lang="en-US" altLang="ja-JP" sz="2800" dirty="0"/>
              <a:t>6∣=6,  ∣−6∣=6</a:t>
            </a:r>
            <a:endParaRPr kumimoji="1" lang="ja-JP" altLang="en-US" sz="2800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84C4E73-301A-F78A-8E07-D20076E83069}"/>
              </a:ext>
            </a:extLst>
          </p:cNvPr>
          <p:cNvCxnSpPr/>
          <p:nvPr/>
        </p:nvCxnSpPr>
        <p:spPr>
          <a:xfrm>
            <a:off x="2719549" y="5595457"/>
            <a:ext cx="631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949FC57-5286-EFE7-F6E1-07DDAEEF2033}"/>
              </a:ext>
            </a:extLst>
          </p:cNvPr>
          <p:cNvSpPr txBox="1"/>
          <p:nvPr/>
        </p:nvSpPr>
        <p:spPr>
          <a:xfrm>
            <a:off x="5593952" y="559545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77A4F6-0349-311B-EF66-61743067E4DB}"/>
              </a:ext>
            </a:extLst>
          </p:cNvPr>
          <p:cNvSpPr txBox="1"/>
          <p:nvPr/>
        </p:nvSpPr>
        <p:spPr>
          <a:xfrm>
            <a:off x="8715375" y="557449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3B8DC3-0464-9440-5293-1A4539AF0ECE}"/>
              </a:ext>
            </a:extLst>
          </p:cNvPr>
          <p:cNvSpPr txBox="1"/>
          <p:nvPr/>
        </p:nvSpPr>
        <p:spPr>
          <a:xfrm>
            <a:off x="2719549" y="5616425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-6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1BAA5D2B-ACE9-9572-DBB0-721EDAB3B956}"/>
                  </a:ext>
                </a:extLst>
              </p14:cNvPr>
              <p14:cNvContentPartPr/>
              <p14:nvPr/>
            </p14:nvContentPartPr>
            <p14:xfrm>
              <a:off x="3011631" y="5699903"/>
              <a:ext cx="2642040" cy="26100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1BAA5D2B-ACE9-9572-DBB0-721EDAB3B9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5511" y="5693783"/>
                <a:ext cx="26542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BF101EFE-4C30-D854-9413-2341EF019BB4}"/>
                  </a:ext>
                </a:extLst>
              </p14:cNvPr>
              <p14:cNvContentPartPr/>
              <p14:nvPr/>
            </p14:nvContentPartPr>
            <p14:xfrm>
              <a:off x="4122591" y="6103823"/>
              <a:ext cx="169560" cy="260640"/>
            </p14:xfrm>
          </p:contentPart>
        </mc:Choice>
        <mc:Fallback xmlns=""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BF101EFE-4C30-D854-9413-2341EF019B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16471" y="6097703"/>
                <a:ext cx="18180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03F94794-328E-FA47-FAAA-9E9A0CB92E9C}"/>
              </a:ext>
            </a:extLst>
          </p:cNvPr>
          <p:cNvGrpSpPr/>
          <p:nvPr/>
        </p:nvGrpSpPr>
        <p:grpSpPr>
          <a:xfrm>
            <a:off x="5850951" y="5639423"/>
            <a:ext cx="2888280" cy="737280"/>
            <a:chOff x="5850951" y="5639423"/>
            <a:chExt cx="2888280" cy="73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C662C68F-8C86-9B9B-CCC4-50C72254F9BD}"/>
                    </a:ext>
                  </a:extLst>
                </p14:cNvPr>
                <p14:cNvContentPartPr/>
                <p14:nvPr/>
              </p14:nvContentPartPr>
              <p14:xfrm>
                <a:off x="5850951" y="5639423"/>
                <a:ext cx="2888280" cy="36828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C662C68F-8C86-9B9B-CCC4-50C72254F9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44831" y="5633303"/>
                  <a:ext cx="29005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05F27AEB-0883-2494-81C7-4E79494E4AC0}"/>
                    </a:ext>
                  </a:extLst>
                </p14:cNvPr>
                <p14:cNvContentPartPr/>
                <p14:nvPr/>
              </p14:nvContentPartPr>
              <p14:xfrm>
                <a:off x="7231191" y="6148823"/>
                <a:ext cx="130320" cy="22788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05F27AEB-0883-2494-81C7-4E79494E4A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25071" y="6142703"/>
                  <a:ext cx="142560" cy="240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704180" y="2358078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04180" y="2723600"/>
            <a:ext cx="257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Inter"/>
                <a:ea typeface="Inter"/>
                <a:sym typeface="Inter"/>
              </a:rPr>
              <a:t>2</a:t>
            </a:r>
            <a:endParaRPr dirty="0"/>
          </a:p>
        </p:txBody>
      </p:sp>
      <p:sp>
        <p:nvSpPr>
          <p:cNvPr id="153" name="Google Shape;153;p17"/>
          <p:cNvSpPr/>
          <p:nvPr/>
        </p:nvSpPr>
        <p:spPr>
          <a:xfrm>
            <a:off x="704180" y="3249856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04180" y="4141634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04180" y="4523705"/>
            <a:ext cx="257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Inter"/>
                <a:ea typeface="Inter"/>
                <a:sym typeface="Inter"/>
              </a:rPr>
              <a:t>4</a:t>
            </a:r>
          </a:p>
        </p:txBody>
      </p:sp>
      <p:sp>
        <p:nvSpPr>
          <p:cNvPr id="161" name="Google Shape;161;p17"/>
          <p:cNvSpPr/>
          <p:nvPr/>
        </p:nvSpPr>
        <p:spPr>
          <a:xfrm>
            <a:off x="704180" y="5046509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704180" y="1878851"/>
            <a:ext cx="95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400" dirty="0"/>
          </a:p>
        </p:txBody>
      </p:sp>
      <p:sp>
        <p:nvSpPr>
          <p:cNvPr id="172" name="Google Shape;172;p17"/>
          <p:cNvSpPr txBox="1"/>
          <p:nvPr/>
        </p:nvSpPr>
        <p:spPr>
          <a:xfrm>
            <a:off x="704180" y="3691072"/>
            <a:ext cx="142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Inter"/>
                <a:ea typeface="Inter"/>
                <a:sym typeface="Inter"/>
              </a:rPr>
              <a:t>3</a:t>
            </a:r>
            <a:endParaRPr sz="2400" dirty="0"/>
          </a:p>
        </p:txBody>
      </p:sp>
      <p:sp>
        <p:nvSpPr>
          <p:cNvPr id="180" name="Google Shape;180;p17"/>
          <p:cNvSpPr txBox="1"/>
          <p:nvPr/>
        </p:nvSpPr>
        <p:spPr>
          <a:xfrm>
            <a:off x="790575" y="572989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不等式・絶対値：演習</a:t>
            </a:r>
            <a:endParaRPr lang="ja-JP" altLang="en-US" dirty="0"/>
          </a:p>
        </p:txBody>
      </p:sp>
      <p:sp>
        <p:nvSpPr>
          <p:cNvPr id="181" name="Google Shape;181;p17"/>
          <p:cNvSpPr/>
          <p:nvPr/>
        </p:nvSpPr>
        <p:spPr>
          <a:xfrm>
            <a:off x="571500" y="458689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60;p17">
            <a:extLst>
              <a:ext uri="{FF2B5EF4-FFF2-40B4-BE49-F238E27FC236}">
                <a16:creationId xmlns:a16="http://schemas.microsoft.com/office/drawing/2014/main" id="{23DF22AC-36FD-4524-AA14-E265B4EE771A}"/>
              </a:ext>
            </a:extLst>
          </p:cNvPr>
          <p:cNvSpPr txBox="1"/>
          <p:nvPr/>
        </p:nvSpPr>
        <p:spPr>
          <a:xfrm>
            <a:off x="6766029" y="1817296"/>
            <a:ext cx="257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Inter"/>
                <a:ea typeface="Inter"/>
                <a:sym typeface="Inter"/>
              </a:rPr>
              <a:t>5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138777-52ED-43C4-9A8F-DE018E053343}"/>
              </a:ext>
            </a:extLst>
          </p:cNvPr>
          <p:cNvSpPr txBox="1"/>
          <p:nvPr/>
        </p:nvSpPr>
        <p:spPr>
          <a:xfrm>
            <a:off x="7089879" y="1878851"/>
            <a:ext cx="4852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以下の数値から、絶対値が等しい組み合わせを全て選べ。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5A3A264-EDD2-45B7-882C-81EDE12EE698}"/>
                  </a:ext>
                </a:extLst>
              </p:cNvPr>
              <p:cNvSpPr txBox="1"/>
              <p:nvPr/>
            </p:nvSpPr>
            <p:spPr>
              <a:xfrm>
                <a:off x="7089879" y="2875123"/>
                <a:ext cx="4305300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−8,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8,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kumimoji="1" lang="ja-JP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320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kumimoji="1" lang="ja-JP" altLang="en-US" sz="32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kumimoji="1" lang="ja-JP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32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1" lang="ja-JP" altLang="en-US" sz="32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1,7,−6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5A3A264-EDD2-45B7-882C-81EDE12EE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879" y="2875123"/>
                <a:ext cx="4305300" cy="101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C3F6E1-E125-44EB-8C73-5250ED27D250}"/>
              </a:ext>
            </a:extLst>
          </p:cNvPr>
          <p:cNvSpPr txBox="1"/>
          <p:nvPr/>
        </p:nvSpPr>
        <p:spPr>
          <a:xfrm>
            <a:off x="1637630" y="1711049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4</a:t>
            </a:r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AD3689D-52BE-4647-B4E6-BA9328E05F02}"/>
              </a:ext>
            </a:extLst>
          </p:cNvPr>
          <p:cNvSpPr txBox="1"/>
          <p:nvPr/>
        </p:nvSpPr>
        <p:spPr>
          <a:xfrm>
            <a:off x="4069222" y="1673202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5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FFC2E51-0721-4041-B304-C6EF7134ED03}"/>
              </a:ext>
            </a:extLst>
          </p:cNvPr>
          <p:cNvSpPr/>
          <p:nvPr/>
        </p:nvSpPr>
        <p:spPr>
          <a:xfrm>
            <a:off x="2561555" y="1739102"/>
            <a:ext cx="1209675" cy="534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0225D33-6A1A-4ACF-BCD7-37B51287B387}"/>
              </a:ext>
            </a:extLst>
          </p:cNvPr>
          <p:cNvSpPr txBox="1"/>
          <p:nvPr/>
        </p:nvSpPr>
        <p:spPr>
          <a:xfrm>
            <a:off x="1637630" y="2625552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7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AB9A690-3F9E-472B-8D53-24E376281D39}"/>
              </a:ext>
            </a:extLst>
          </p:cNvPr>
          <p:cNvSpPr txBox="1"/>
          <p:nvPr/>
        </p:nvSpPr>
        <p:spPr>
          <a:xfrm>
            <a:off x="4069222" y="2587705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8</a:t>
            </a:r>
            <a:endParaRPr kumimoji="1"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F6DBAAC-4381-446F-9838-A24CAF447394}"/>
              </a:ext>
            </a:extLst>
          </p:cNvPr>
          <p:cNvSpPr/>
          <p:nvPr/>
        </p:nvSpPr>
        <p:spPr>
          <a:xfrm>
            <a:off x="2561555" y="2653605"/>
            <a:ext cx="1209675" cy="534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CF1A7C9-5622-4ADF-BCCC-7F901B342797}"/>
              </a:ext>
            </a:extLst>
          </p:cNvPr>
          <p:cNvSpPr txBox="1"/>
          <p:nvPr/>
        </p:nvSpPr>
        <p:spPr>
          <a:xfrm>
            <a:off x="1636958" y="3483086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2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A2384AA-6D63-49C3-8F7E-1D805A034FDD}"/>
              </a:ext>
            </a:extLst>
          </p:cNvPr>
          <p:cNvSpPr txBox="1"/>
          <p:nvPr/>
        </p:nvSpPr>
        <p:spPr>
          <a:xfrm>
            <a:off x="4068550" y="3445239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4</a:t>
            </a:r>
            <a:endParaRPr kumimoji="1" lang="ja-JP" altLang="en-US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5A9EA1A-9BA8-4523-82AF-3D3C4149FBE5}"/>
              </a:ext>
            </a:extLst>
          </p:cNvPr>
          <p:cNvSpPr/>
          <p:nvPr/>
        </p:nvSpPr>
        <p:spPr>
          <a:xfrm>
            <a:off x="2560883" y="3511139"/>
            <a:ext cx="1209675" cy="534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20E43ED-7787-4F59-B8DD-60F922D31911}"/>
              </a:ext>
            </a:extLst>
          </p:cNvPr>
          <p:cNvSpPr txBox="1"/>
          <p:nvPr/>
        </p:nvSpPr>
        <p:spPr>
          <a:xfrm>
            <a:off x="1636958" y="4347406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3</a:t>
            </a:r>
            <a:endParaRPr kumimoji="1" lang="ja-JP" altLang="en-US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6DE9005-F700-441E-9D8B-5FB72ACCF7C4}"/>
              </a:ext>
            </a:extLst>
          </p:cNvPr>
          <p:cNvSpPr txBox="1"/>
          <p:nvPr/>
        </p:nvSpPr>
        <p:spPr>
          <a:xfrm>
            <a:off x="4068550" y="4309559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1</a:t>
            </a:r>
            <a:endParaRPr kumimoji="1" lang="ja-JP" altLang="en-US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0B18FFF-5443-425D-BDA4-EC1F57CC640D}"/>
              </a:ext>
            </a:extLst>
          </p:cNvPr>
          <p:cNvSpPr/>
          <p:nvPr/>
        </p:nvSpPr>
        <p:spPr>
          <a:xfrm>
            <a:off x="2560883" y="4375459"/>
            <a:ext cx="1209675" cy="534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0634052-BF64-4D35-BE06-AA6AFCD083F9}"/>
              </a:ext>
            </a:extLst>
          </p:cNvPr>
          <p:cNvSpPr txBox="1"/>
          <p:nvPr/>
        </p:nvSpPr>
        <p:spPr>
          <a:xfrm>
            <a:off x="4708487" y="3715138"/>
            <a:ext cx="176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solidFill>
                  <a:schemeClr val="tx1"/>
                </a:solidFill>
              </a:rPr>
              <a:t>≧</a:t>
            </a:r>
            <a:r>
              <a:rPr lang="en-US" altLang="ja-JP" sz="1800" b="1" dirty="0">
                <a:solidFill>
                  <a:schemeClr val="tx1"/>
                </a:solidFill>
              </a:rPr>
              <a:t>,</a:t>
            </a:r>
            <a:r>
              <a:rPr lang="ja-JP" altLang="en-US" sz="1800" b="1" dirty="0">
                <a:solidFill>
                  <a:schemeClr val="tx1"/>
                </a:solidFill>
              </a:rPr>
              <a:t> ≦を入れよ</a:t>
            </a:r>
            <a:endParaRPr kumimoji="1" lang="ja-JP" altLang="en-US" sz="1800" b="1" dirty="0">
              <a:solidFill>
                <a:schemeClr val="tx1"/>
              </a:solidFill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B837AF8F-DA52-4E77-A0A5-FB398DB9F451}"/>
              </a:ext>
            </a:extLst>
          </p:cNvPr>
          <p:cNvSpPr txBox="1"/>
          <p:nvPr/>
        </p:nvSpPr>
        <p:spPr>
          <a:xfrm>
            <a:off x="4677866" y="4512081"/>
            <a:ext cx="176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solidFill>
                  <a:schemeClr val="tx1"/>
                </a:solidFill>
              </a:rPr>
              <a:t>≧</a:t>
            </a:r>
            <a:r>
              <a:rPr lang="en-US" altLang="ja-JP" sz="1800" b="1" dirty="0">
                <a:solidFill>
                  <a:schemeClr val="tx1"/>
                </a:solidFill>
              </a:rPr>
              <a:t>,</a:t>
            </a:r>
            <a:r>
              <a:rPr lang="ja-JP" altLang="en-US" sz="1800" b="1" dirty="0">
                <a:solidFill>
                  <a:schemeClr val="tx1"/>
                </a:solidFill>
              </a:rPr>
              <a:t> ≦を入れよ</a:t>
            </a:r>
            <a:endParaRPr kumimoji="1" lang="ja-JP" altLang="en-US" sz="1800" b="1" dirty="0">
              <a:solidFill>
                <a:schemeClr val="tx1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E5B5C8E-D17E-4B2B-856A-61C5F0C13B73}"/>
              </a:ext>
            </a:extLst>
          </p:cNvPr>
          <p:cNvSpPr txBox="1"/>
          <p:nvPr/>
        </p:nvSpPr>
        <p:spPr>
          <a:xfrm>
            <a:off x="4677866" y="2819221"/>
            <a:ext cx="176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solidFill>
                  <a:schemeClr val="tx1"/>
                </a:solidFill>
              </a:rPr>
              <a:t>＞</a:t>
            </a:r>
            <a:r>
              <a:rPr lang="en-US" altLang="ja-JP" sz="1800" b="1" dirty="0">
                <a:solidFill>
                  <a:schemeClr val="tx1"/>
                </a:solidFill>
              </a:rPr>
              <a:t>,</a:t>
            </a:r>
            <a:r>
              <a:rPr lang="ja-JP" altLang="en-US" sz="1800" b="1" dirty="0">
                <a:solidFill>
                  <a:schemeClr val="tx1"/>
                </a:solidFill>
              </a:rPr>
              <a:t> ＜を入れよ</a:t>
            </a:r>
            <a:endParaRPr kumimoji="1" lang="ja-JP" altLang="en-US" sz="1800" b="1" dirty="0">
              <a:solidFill>
                <a:schemeClr val="tx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F5D76AB-2328-493F-BBB9-05C1E41AB954}"/>
              </a:ext>
            </a:extLst>
          </p:cNvPr>
          <p:cNvSpPr txBox="1"/>
          <p:nvPr/>
        </p:nvSpPr>
        <p:spPr>
          <a:xfrm>
            <a:off x="4658959" y="1914867"/>
            <a:ext cx="176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solidFill>
                  <a:schemeClr val="tx1"/>
                </a:solidFill>
              </a:rPr>
              <a:t>＞</a:t>
            </a:r>
            <a:r>
              <a:rPr lang="en-US" altLang="ja-JP" sz="1800" b="1" dirty="0">
                <a:solidFill>
                  <a:schemeClr val="tx1"/>
                </a:solidFill>
              </a:rPr>
              <a:t>,</a:t>
            </a:r>
            <a:r>
              <a:rPr lang="ja-JP" altLang="en-US" sz="1800" b="1" dirty="0">
                <a:solidFill>
                  <a:schemeClr val="tx1"/>
                </a:solidFill>
              </a:rPr>
              <a:t> ＜を入れよ</a:t>
            </a:r>
            <a:endParaRPr kumimoji="1" lang="ja-JP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84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2D6F0E38-3E0D-21C0-61E9-219D1D97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E86AF93B-AD38-57EA-7AAB-A98ABBE2C1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78E33A07-10C6-1647-2814-D5CA65A4ED01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乗数</a:t>
            </a: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・</a:t>
            </a:r>
            <a:r>
              <a:rPr lang="ja-JP" alt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平方根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8080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07940"/>
            <a:ext cx="5238750" cy="621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2712" y="2825575"/>
            <a:ext cx="5238750" cy="63534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95313" y="1635538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乗数</a:t>
            </a:r>
            <a:endParaRPr sz="2800"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230505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同じ数をいくつかかけ合わせたものです。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462712" y="1564477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平方根(</a:t>
            </a:r>
            <a:r>
              <a:rPr lang="ja-JP" altLang="en-US" sz="2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ルート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800" dirty="0"/>
          </a:p>
        </p:txBody>
      </p:sp>
      <p:sp>
        <p:nvSpPr>
          <p:cNvPr id="202" name="Google Shape;202;p21"/>
          <p:cNvSpPr txBox="1"/>
          <p:nvPr/>
        </p:nvSpPr>
        <p:spPr>
          <a:xfrm>
            <a:off x="6884215" y="230505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2乗すると、ある数Xになる数字です。</a:t>
            </a:r>
            <a:endParaRPr dirty="0"/>
          </a:p>
        </p:txBody>
      </p:sp>
      <p:pic>
        <p:nvPicPr>
          <p:cNvPr id="204" name="Google Shape;20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523" y="2966152"/>
            <a:ext cx="4857750" cy="24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2712" y="2952608"/>
            <a:ext cx="4857750" cy="254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乗数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と平方根</a:t>
            </a:r>
            <a:endParaRPr dirty="0"/>
          </a:p>
        </p:txBody>
      </p:sp>
      <p:sp>
        <p:nvSpPr>
          <p:cNvPr id="207" name="Google Shape;207;p21"/>
          <p:cNvSpPr/>
          <p:nvPr/>
        </p:nvSpPr>
        <p:spPr>
          <a:xfrm>
            <a:off x="577168" y="487526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583B44E-7885-01E8-B57A-6256AC907A1B}"/>
                  </a:ext>
                </a:extLst>
              </p:cNvPr>
              <p:cNvSpPr txBox="1"/>
              <p:nvPr/>
            </p:nvSpPr>
            <p:spPr>
              <a:xfrm>
                <a:off x="762000" y="3797505"/>
                <a:ext cx="27991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2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ja-JP" sz="320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1" lang="en-US" altLang="ja-JP" sz="3200" dirty="0">
                    <a:latin typeface="Inter" panose="020B0600070205080204" charset="0"/>
                  </a:rPr>
                  <a:t> = 2 * 2 * 2</a:t>
                </a:r>
                <a:endParaRPr kumimoji="1" lang="ja-JP" altLang="en-US" sz="3200" dirty="0">
                  <a:latin typeface="Inter" panose="020B0600070205080204" charset="0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583B44E-7885-01E8-B57A-6256AC907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797505"/>
                <a:ext cx="2799127" cy="584775"/>
              </a:xfrm>
              <a:prstGeom prst="rect">
                <a:avLst/>
              </a:prstGeom>
              <a:blipFill>
                <a:blip r:embed="rId7"/>
                <a:stretch>
                  <a:fillRect t="-13542" r="-1961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B227D5E-2C6C-CC8C-98FF-AEB8ADAB1543}"/>
                  </a:ext>
                </a:extLst>
              </p:cNvPr>
              <p:cNvSpPr txBox="1"/>
              <p:nvPr/>
            </p:nvSpPr>
            <p:spPr>
              <a:xfrm>
                <a:off x="762000" y="4662969"/>
                <a:ext cx="170436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2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ja-JP" sz="32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1" lang="en-US" altLang="ja-JP" sz="3200" dirty="0">
                    <a:latin typeface="Inter" panose="020B0600070205080204" charset="0"/>
                  </a:rPr>
                  <a:t> = 1</a:t>
                </a:r>
                <a:endParaRPr kumimoji="1" lang="ja-JP" altLang="en-US" sz="3200" dirty="0">
                  <a:latin typeface="Inter" panose="020B0600070205080204" charset="0"/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B227D5E-2C6C-CC8C-98FF-AEB8ADAB1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662969"/>
                <a:ext cx="1704363" cy="584775"/>
              </a:xfrm>
              <a:prstGeom prst="rect">
                <a:avLst/>
              </a:prstGeom>
              <a:blipFill>
                <a:blip r:embed="rId8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9BCABE-6519-7535-4C7A-55E6ED09C822}"/>
              </a:ext>
            </a:extLst>
          </p:cNvPr>
          <p:cNvSpPr txBox="1"/>
          <p:nvPr/>
        </p:nvSpPr>
        <p:spPr>
          <a:xfrm>
            <a:off x="3972187" y="3936003"/>
            <a:ext cx="1510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</a:t>
            </a:r>
            <a:r>
              <a:rPr kumimoji="1" lang="en-US" altLang="ja-JP" dirty="0"/>
              <a:t>2</a:t>
            </a:r>
            <a:r>
              <a:rPr kumimoji="1" lang="ja-JP" altLang="en-US" dirty="0"/>
              <a:t>の</a:t>
            </a:r>
            <a:r>
              <a:rPr kumimoji="1" lang="en-US" altLang="ja-JP" dirty="0"/>
              <a:t>3</a:t>
            </a:r>
            <a:r>
              <a:rPr kumimoji="1" lang="ja-JP" altLang="en-US" dirty="0"/>
              <a:t>乗と読む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676176-0DEB-9B3B-D45F-2C1A54CB099F}"/>
              </a:ext>
            </a:extLst>
          </p:cNvPr>
          <p:cNvSpPr txBox="1"/>
          <p:nvPr/>
        </p:nvSpPr>
        <p:spPr>
          <a:xfrm>
            <a:off x="4061955" y="4801467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</a:t>
            </a:r>
            <a:r>
              <a:rPr kumimoji="1" lang="en-US" altLang="ja-JP" dirty="0"/>
              <a:t>0</a:t>
            </a:r>
            <a:r>
              <a:rPr kumimoji="1" lang="ja-JP" altLang="en-US" dirty="0"/>
              <a:t>乗は必ず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81000A3-A5D7-2971-EDF1-9CCBDA6E0FB0}"/>
                  </a:ext>
                </a:extLst>
              </p:cNvPr>
              <p:cNvSpPr txBox="1"/>
              <p:nvPr/>
            </p:nvSpPr>
            <p:spPr>
              <a:xfrm>
                <a:off x="6946738" y="3681205"/>
                <a:ext cx="2799127" cy="654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/>
                  <a:t>3 =</a:t>
                </a:r>
                <a14:m>
                  <m:oMath xmlns:m="http://schemas.openxmlformats.org/officeDocument/2006/math">
                    <m:r>
                      <a:rPr kumimoji="1" lang="en-US" altLang="ja-JP" sz="3200" b="0" i="0" dirty="0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kumimoji="1" lang="en-US" altLang="ja-JP" sz="32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32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kumimoji="1" lang="en-US" altLang="ja-JP" sz="3200" b="0" i="1" dirty="0" smtClean="0">
                        <a:latin typeface="Cambria Math" panose="02040503050406030204" pitchFamily="18" charset="0"/>
                      </a:rPr>
                      <m:t> ∗</m:t>
                    </m:r>
                    <m:rad>
                      <m:radPr>
                        <m:degHide m:val="on"/>
                        <m:ctrlPr>
                          <a:rPr kumimoji="1" lang="en-US" altLang="ja-JP" sz="3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32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sz="3200" dirty="0">
                  <a:latin typeface="Inter" panose="020B0600070205080204" charset="0"/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81000A3-A5D7-2971-EDF1-9CCBDA6E0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38" y="3681205"/>
                <a:ext cx="2799127" cy="654025"/>
              </a:xfrm>
              <a:prstGeom prst="rect">
                <a:avLst/>
              </a:prstGeom>
              <a:blipFill>
                <a:blip r:embed="rId9"/>
                <a:stretch>
                  <a:fillRect l="-5664" t="-5607" b="-261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8E8437-A7A4-863D-C688-15C768C898E4}"/>
              </a:ext>
            </a:extLst>
          </p:cNvPr>
          <p:cNvSpPr txBox="1"/>
          <p:nvPr/>
        </p:nvSpPr>
        <p:spPr>
          <a:xfrm>
            <a:off x="9346349" y="3894028"/>
            <a:ext cx="2666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全ての数は√の掛け算になる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1158CF7-2945-45CE-CF7E-07D92551FFD7}"/>
                  </a:ext>
                </a:extLst>
              </p:cNvPr>
              <p:cNvSpPr txBox="1"/>
              <p:nvPr/>
            </p:nvSpPr>
            <p:spPr>
              <a:xfrm>
                <a:off x="6096000" y="4565569"/>
                <a:ext cx="5087269" cy="779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3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kumimoji="1" lang="en-US" altLang="ja-JP" sz="3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ja-JP" sz="32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kumimoji="1" lang="en-US" altLang="ja-JP" sz="32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3200" b="0" i="0" dirty="0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kumimoji="1" lang="en-US" altLang="ja-JP" sz="3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sz="3200" b="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kumimoji="1" lang="en-US" altLang="ja-JP" sz="3200" b="0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rad>
                        <m:radPr>
                          <m:degHide m:val="on"/>
                          <m:ctrlPr>
                            <a:rPr kumimoji="1" lang="en-US" altLang="ja-JP" sz="3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sz="3200" b="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kumimoji="1" lang="en-US" altLang="ja-JP" sz="3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ja-JP" altLang="en-US" sz="3200" dirty="0">
                  <a:latin typeface="Inter" panose="020B0600070205080204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1158CF7-2945-45CE-CF7E-07D92551F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65569"/>
                <a:ext cx="5087269" cy="7795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072287-881D-87CA-B140-C565C0E43FC7}"/>
              </a:ext>
            </a:extLst>
          </p:cNvPr>
          <p:cNvSpPr txBox="1"/>
          <p:nvPr/>
        </p:nvSpPr>
        <p:spPr>
          <a:xfrm>
            <a:off x="9346349" y="53860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√を２乗すると中身の数になる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/>
        </p:nvSpPr>
        <p:spPr>
          <a:xfrm>
            <a:off x="790575" y="572989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乗数・平方根：演習</a:t>
            </a:r>
            <a:endParaRPr lang="ja-JP" altLang="en-US" dirty="0"/>
          </a:p>
        </p:txBody>
      </p:sp>
      <p:sp>
        <p:nvSpPr>
          <p:cNvPr id="6" name="Google Shape;207;p21">
            <a:extLst>
              <a:ext uri="{FF2B5EF4-FFF2-40B4-BE49-F238E27FC236}">
                <a16:creationId xmlns:a16="http://schemas.microsoft.com/office/drawing/2014/main" id="{960019B4-918D-4513-B963-A20D3D6FC50A}"/>
              </a:ext>
            </a:extLst>
          </p:cNvPr>
          <p:cNvSpPr/>
          <p:nvPr/>
        </p:nvSpPr>
        <p:spPr>
          <a:xfrm>
            <a:off x="577168" y="487526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85;p13">
            <a:extLst>
              <a:ext uri="{FF2B5EF4-FFF2-40B4-BE49-F238E27FC236}">
                <a16:creationId xmlns:a16="http://schemas.microsoft.com/office/drawing/2014/main" id="{63A8F6B8-67B3-4A26-897D-9F52F52570DC}"/>
              </a:ext>
            </a:extLst>
          </p:cNvPr>
          <p:cNvSpPr txBox="1"/>
          <p:nvPr/>
        </p:nvSpPr>
        <p:spPr>
          <a:xfrm>
            <a:off x="790575" y="1753191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8" name="Google Shape;86;p13">
            <a:extLst>
              <a:ext uri="{FF2B5EF4-FFF2-40B4-BE49-F238E27FC236}">
                <a16:creationId xmlns:a16="http://schemas.microsoft.com/office/drawing/2014/main" id="{E34A10B3-2B4D-42D6-8467-61F7AEE92D14}"/>
              </a:ext>
            </a:extLst>
          </p:cNvPr>
          <p:cNvSpPr txBox="1"/>
          <p:nvPr/>
        </p:nvSpPr>
        <p:spPr>
          <a:xfrm>
            <a:off x="6696075" y="1753191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29" name="Google Shape;87;p13">
            <a:extLst>
              <a:ext uri="{FF2B5EF4-FFF2-40B4-BE49-F238E27FC236}">
                <a16:creationId xmlns:a16="http://schemas.microsoft.com/office/drawing/2014/main" id="{6FD2A61C-BA05-43EA-986C-DAA5A211296E}"/>
              </a:ext>
            </a:extLst>
          </p:cNvPr>
          <p:cNvSpPr txBox="1"/>
          <p:nvPr/>
        </p:nvSpPr>
        <p:spPr>
          <a:xfrm>
            <a:off x="790575" y="2640504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30" name="Google Shape;88;p13">
            <a:extLst>
              <a:ext uri="{FF2B5EF4-FFF2-40B4-BE49-F238E27FC236}">
                <a16:creationId xmlns:a16="http://schemas.microsoft.com/office/drawing/2014/main" id="{C4A8CE1C-3F3E-40A6-A8B3-74BCCDBDF881}"/>
              </a:ext>
            </a:extLst>
          </p:cNvPr>
          <p:cNvSpPr txBox="1"/>
          <p:nvPr/>
        </p:nvSpPr>
        <p:spPr>
          <a:xfrm>
            <a:off x="6696075" y="2640504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/>
          </a:p>
        </p:txBody>
      </p:sp>
      <p:sp>
        <p:nvSpPr>
          <p:cNvPr id="31" name="Google Shape;89;p13">
            <a:extLst>
              <a:ext uri="{FF2B5EF4-FFF2-40B4-BE49-F238E27FC236}">
                <a16:creationId xmlns:a16="http://schemas.microsoft.com/office/drawing/2014/main" id="{ECD47819-8A00-48CD-8158-F4B9BA5D1113}"/>
              </a:ext>
            </a:extLst>
          </p:cNvPr>
          <p:cNvSpPr txBox="1"/>
          <p:nvPr/>
        </p:nvSpPr>
        <p:spPr>
          <a:xfrm>
            <a:off x="790575" y="3527818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32" name="Google Shape;90;p13">
            <a:extLst>
              <a:ext uri="{FF2B5EF4-FFF2-40B4-BE49-F238E27FC236}">
                <a16:creationId xmlns:a16="http://schemas.microsoft.com/office/drawing/2014/main" id="{759C03F4-435A-4C2E-BB52-D4B580AB2F95}"/>
              </a:ext>
            </a:extLst>
          </p:cNvPr>
          <p:cNvSpPr txBox="1"/>
          <p:nvPr/>
        </p:nvSpPr>
        <p:spPr>
          <a:xfrm>
            <a:off x="6696075" y="3527818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/>
          </a:p>
        </p:txBody>
      </p:sp>
      <p:sp>
        <p:nvSpPr>
          <p:cNvPr id="33" name="Google Shape;91;p13">
            <a:extLst>
              <a:ext uri="{FF2B5EF4-FFF2-40B4-BE49-F238E27FC236}">
                <a16:creationId xmlns:a16="http://schemas.microsoft.com/office/drawing/2014/main" id="{B3C7B509-4A23-466E-98F3-E326983D47F8}"/>
              </a:ext>
            </a:extLst>
          </p:cNvPr>
          <p:cNvSpPr txBox="1"/>
          <p:nvPr/>
        </p:nvSpPr>
        <p:spPr>
          <a:xfrm>
            <a:off x="790575" y="4451743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34" name="Google Shape;92;p13">
            <a:extLst>
              <a:ext uri="{FF2B5EF4-FFF2-40B4-BE49-F238E27FC236}">
                <a16:creationId xmlns:a16="http://schemas.microsoft.com/office/drawing/2014/main" id="{DB17EFBC-AEDD-4E92-AE8A-CBC609134993}"/>
              </a:ext>
            </a:extLst>
          </p:cNvPr>
          <p:cNvSpPr txBox="1"/>
          <p:nvPr/>
        </p:nvSpPr>
        <p:spPr>
          <a:xfrm>
            <a:off x="6696075" y="4451743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/>
          </a:p>
        </p:txBody>
      </p:sp>
      <p:sp>
        <p:nvSpPr>
          <p:cNvPr id="35" name="Google Shape;93;p13">
            <a:extLst>
              <a:ext uri="{FF2B5EF4-FFF2-40B4-BE49-F238E27FC236}">
                <a16:creationId xmlns:a16="http://schemas.microsoft.com/office/drawing/2014/main" id="{3FC7143C-9BCD-415D-B34A-09F9C0DE0FBF}"/>
              </a:ext>
            </a:extLst>
          </p:cNvPr>
          <p:cNvSpPr txBox="1"/>
          <p:nvPr/>
        </p:nvSpPr>
        <p:spPr>
          <a:xfrm>
            <a:off x="790575" y="5375668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36" name="Google Shape;94;p13">
            <a:extLst>
              <a:ext uri="{FF2B5EF4-FFF2-40B4-BE49-F238E27FC236}">
                <a16:creationId xmlns:a16="http://schemas.microsoft.com/office/drawing/2014/main" id="{BEFD8381-3734-4C9E-920C-CC8889D34D2D}"/>
              </a:ext>
            </a:extLst>
          </p:cNvPr>
          <p:cNvSpPr txBox="1"/>
          <p:nvPr/>
        </p:nvSpPr>
        <p:spPr>
          <a:xfrm>
            <a:off x="6696075" y="5375668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/>
          </a:p>
        </p:txBody>
      </p:sp>
      <p:pic>
        <p:nvPicPr>
          <p:cNvPr id="37" name="Google Shape;95;p13" descr="image.png">
            <a:extLst>
              <a:ext uri="{FF2B5EF4-FFF2-40B4-BE49-F238E27FC236}">
                <a16:creationId xmlns:a16="http://schemas.microsoft.com/office/drawing/2014/main" id="{631CF160-0D56-42D4-B367-BD4A9C18A4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825" y="1742922"/>
            <a:ext cx="823019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96;p13" descr="image.png">
            <a:extLst>
              <a:ext uri="{FF2B5EF4-FFF2-40B4-BE49-F238E27FC236}">
                <a16:creationId xmlns:a16="http://schemas.microsoft.com/office/drawing/2014/main" id="{DC216920-080C-4006-90BC-A559D84C61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2325" y="1748726"/>
            <a:ext cx="819745" cy="33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97;p13" descr="image.png">
            <a:extLst>
              <a:ext uri="{FF2B5EF4-FFF2-40B4-BE49-F238E27FC236}">
                <a16:creationId xmlns:a16="http://schemas.microsoft.com/office/drawing/2014/main" id="{F4067AB0-2471-4D5E-A29C-4190831C1A3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825" y="2630235"/>
            <a:ext cx="823019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98;p13" descr="image.png">
            <a:extLst>
              <a:ext uri="{FF2B5EF4-FFF2-40B4-BE49-F238E27FC236}">
                <a16:creationId xmlns:a16="http://schemas.microsoft.com/office/drawing/2014/main" id="{516A4329-E4B7-497D-9704-974DD5A68A5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72325" y="2636039"/>
            <a:ext cx="1008161" cy="33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99;p13" descr="image.png">
            <a:extLst>
              <a:ext uri="{FF2B5EF4-FFF2-40B4-BE49-F238E27FC236}">
                <a16:creationId xmlns:a16="http://schemas.microsoft.com/office/drawing/2014/main" id="{FE3567BF-123A-456C-877E-586E1C1E190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6825" y="3517548"/>
            <a:ext cx="823019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00;p13" descr="image.png">
            <a:extLst>
              <a:ext uri="{FF2B5EF4-FFF2-40B4-BE49-F238E27FC236}">
                <a16:creationId xmlns:a16="http://schemas.microsoft.com/office/drawing/2014/main" id="{2ED3206F-2CBA-4477-A0C3-A41304E9D37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72325" y="3523353"/>
            <a:ext cx="1196726" cy="33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01;p13" descr="image.png">
            <a:extLst>
              <a:ext uri="{FF2B5EF4-FFF2-40B4-BE49-F238E27FC236}">
                <a16:creationId xmlns:a16="http://schemas.microsoft.com/office/drawing/2014/main" id="{762774AD-4587-4133-90E3-37BC6245777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66825" y="4441473"/>
            <a:ext cx="1011435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102;p13" descr="image.png">
            <a:extLst>
              <a:ext uri="{FF2B5EF4-FFF2-40B4-BE49-F238E27FC236}">
                <a16:creationId xmlns:a16="http://schemas.microsoft.com/office/drawing/2014/main" id="{4FFD4EDC-B886-405E-8A38-0C8CBDDFD77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72325" y="4404862"/>
            <a:ext cx="1029890" cy="417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03;p13" descr="image.png">
            <a:extLst>
              <a:ext uri="{FF2B5EF4-FFF2-40B4-BE49-F238E27FC236}">
                <a16:creationId xmlns:a16="http://schemas.microsoft.com/office/drawing/2014/main" id="{F89D53CE-A59D-41DC-A2E9-3863253DDF7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66825" y="5365398"/>
            <a:ext cx="823019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04;p13" descr="image.png">
            <a:extLst>
              <a:ext uri="{FF2B5EF4-FFF2-40B4-BE49-F238E27FC236}">
                <a16:creationId xmlns:a16="http://schemas.microsoft.com/office/drawing/2014/main" id="{969454F6-88DE-45AF-9357-BB89A4B7E66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72325" y="5371203"/>
            <a:ext cx="1639490" cy="332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7856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0377EC6-4725-A956-CAA4-3703BCD3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1E005DDF-E333-5BD4-2DD7-FCAAB049F5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644E7E44-A939-838A-8EA1-A276E907B8A5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累乗・累乗根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7220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666750" y="1592461"/>
            <a:ext cx="46577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累乗と平方根を拡張した概念です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619125" y="2454719"/>
            <a:ext cx="587692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累乗根 :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n乗してaになる数の総称。</a:t>
            </a:r>
            <a:endParaRPr sz="2400"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614362" y="3323808"/>
            <a:ext cx="851058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分数表記 :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累乗根は分数乗としても表記可能です。</a:t>
            </a:r>
            <a:endParaRPr sz="2400"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619125" y="4192897"/>
            <a:ext cx="69627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負の累乗 :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逆数（分数）を表します。</a:t>
            </a:r>
            <a:endParaRPr sz="2400" dirty="0"/>
          </a:p>
        </p:txBody>
      </p:sp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6095" y="2198075"/>
            <a:ext cx="2509923" cy="631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6095" y="3182002"/>
            <a:ext cx="2482755" cy="68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49" y="4236524"/>
            <a:ext cx="2247801" cy="6894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累乗と累乗根の定義</a:t>
            </a:r>
            <a:endParaRPr dirty="0"/>
          </a:p>
        </p:txBody>
      </p:sp>
      <p:sp>
        <p:nvSpPr>
          <p:cNvPr id="224" name="Google Shape;224;p22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4;p22">
            <a:extLst>
              <a:ext uri="{FF2B5EF4-FFF2-40B4-BE49-F238E27FC236}">
                <a16:creationId xmlns:a16="http://schemas.microsoft.com/office/drawing/2014/main" id="{FEFD3685-8F7D-4981-ACEB-8BA728B067D0}"/>
              </a:ext>
            </a:extLst>
          </p:cNvPr>
          <p:cNvSpPr/>
          <p:nvPr/>
        </p:nvSpPr>
        <p:spPr>
          <a:xfrm>
            <a:off x="444179" y="20413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23;p22">
            <a:extLst>
              <a:ext uri="{FF2B5EF4-FFF2-40B4-BE49-F238E27FC236}">
                <a16:creationId xmlns:a16="http://schemas.microsoft.com/office/drawing/2014/main" id="{F15366B4-3561-4539-A32B-F195E59966B4}"/>
              </a:ext>
            </a:extLst>
          </p:cNvPr>
          <p:cNvSpPr txBox="1"/>
          <p:nvPr/>
        </p:nvSpPr>
        <p:spPr>
          <a:xfrm>
            <a:off x="790575" y="270031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累乗根の計算</a:t>
            </a:r>
            <a:endParaRPr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130ECBC-120B-4AD7-9135-7431607BA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0" y="889930"/>
            <a:ext cx="9965640" cy="596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22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97818"/>
            <a:ext cx="538162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1597818"/>
            <a:ext cx="538162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50393"/>
            <a:ext cx="538162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3150393"/>
            <a:ext cx="538162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02968"/>
            <a:ext cx="5381625" cy="1303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4702968"/>
            <a:ext cx="5381625" cy="130373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962025" y="2040731"/>
            <a:ext cx="37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Q1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29400" y="2040731"/>
            <a:ext cx="37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Q2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62025" y="3593306"/>
            <a:ext cx="37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Q3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629400" y="3593306"/>
            <a:ext cx="37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Q4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62025" y="5164335"/>
            <a:ext cx="37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Q5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629400" y="5164335"/>
            <a:ext cx="371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Q6</a:t>
            </a:r>
            <a:endParaRPr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7716" y="1972121"/>
            <a:ext cx="1718667" cy="492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3121" y="1846808"/>
            <a:ext cx="1802606" cy="741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71167" y="3486447"/>
            <a:ext cx="791616" cy="54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85112" y="3524696"/>
            <a:ext cx="898624" cy="501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243583" y="5057477"/>
            <a:ext cx="1646932" cy="540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50981" y="4950618"/>
            <a:ext cx="1766738" cy="779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762000" y="571500"/>
            <a:ext cx="11401500" cy="55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累乗・累乗根：演習</a:t>
            </a:r>
            <a:endParaRPr dirty="0"/>
          </a:p>
        </p:txBody>
      </p:sp>
      <p:sp>
        <p:nvSpPr>
          <p:cNvPr id="2" name="Google Shape;142;p17">
            <a:extLst>
              <a:ext uri="{FF2B5EF4-FFF2-40B4-BE49-F238E27FC236}">
                <a16:creationId xmlns:a16="http://schemas.microsoft.com/office/drawing/2014/main" id="{18C2CB13-A498-2D56-46EA-701E714CF976}"/>
              </a:ext>
            </a:extLst>
          </p:cNvPr>
          <p:cNvSpPr/>
          <p:nvPr/>
        </p:nvSpPr>
        <p:spPr>
          <a:xfrm>
            <a:off x="514350" y="488857"/>
            <a:ext cx="114300" cy="723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DDA00EDC-E4F5-1237-98E3-4F040633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9D207612-C60C-C227-64E6-2F94FF8DCE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0F5A59EB-985C-3B33-7C04-3C2E526771FC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方程式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2966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912566"/>
            <a:ext cx="5048250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90600" y="571500"/>
            <a:ext cx="1096137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方程式の</a:t>
            </a: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計算</a:t>
            </a:r>
            <a:endParaRPr dirty="0"/>
          </a:p>
        </p:txBody>
      </p:sp>
      <p:sp>
        <p:nvSpPr>
          <p:cNvPr id="95" name="Google Shape;95;p14"/>
          <p:cNvSpPr/>
          <p:nvPr/>
        </p:nvSpPr>
        <p:spPr>
          <a:xfrm>
            <a:off x="762000" y="571500"/>
            <a:ext cx="114300" cy="723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76300" y="1720305"/>
            <a:ext cx="5048250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いろいろな操作をして、最終的にこの形を目指します：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4407991"/>
            <a:ext cx="50482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目標：</a:t>
            </a:r>
            <a:r>
              <a:rPr lang="en-US" sz="2400" b="1" i="0" u="none" strike="noStrike" cap="none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「x をひとりぼっちにする」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76450"/>
            <a:ext cx="50482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3217366"/>
            <a:ext cx="443865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730698"/>
            <a:ext cx="10668000" cy="29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90600" y="571500"/>
            <a:ext cx="1096137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移項（いこう）</a:t>
            </a:r>
            <a:endParaRPr dirty="0"/>
          </a:p>
        </p:txBody>
      </p:sp>
      <p:sp>
        <p:nvSpPr>
          <p:cNvPr id="107" name="Google Shape;107;p15"/>
          <p:cNvSpPr/>
          <p:nvPr/>
        </p:nvSpPr>
        <p:spPr>
          <a:xfrm>
            <a:off x="762000" y="571500"/>
            <a:ext cx="114300" cy="723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771525" y="1797058"/>
            <a:ext cx="1066800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「</a:t>
            </a:r>
            <a:r>
              <a:rPr lang="en-US" sz="280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＝」を飛び越えて数字を移動させるルールです。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815340" y="3035498"/>
            <a:ext cx="1056132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符号（プラス・マイナス）が入れ替わる！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086475" y="3702248"/>
            <a:ext cx="19050" cy="1714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7418" y="4045148"/>
            <a:ext cx="159781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96790" y="4416623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07418" y="4797623"/>
            <a:ext cx="159781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86762" y="4045148"/>
            <a:ext cx="159781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76134" y="4416623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6762" y="4797623"/>
            <a:ext cx="1597818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898874"/>
            <a:ext cx="5048250" cy="2654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898874"/>
            <a:ext cx="5048250" cy="265464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990600" y="571500"/>
            <a:ext cx="1096137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係数を消す</a:t>
            </a:r>
            <a:endParaRPr dirty="0"/>
          </a:p>
        </p:txBody>
      </p:sp>
      <p:sp>
        <p:nvSpPr>
          <p:cNvPr id="125" name="Google Shape;125;p16"/>
          <p:cNvSpPr/>
          <p:nvPr/>
        </p:nvSpPr>
        <p:spPr>
          <a:xfrm>
            <a:off x="762000" y="571500"/>
            <a:ext cx="114300" cy="723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955833" y="1828907"/>
            <a:ext cx="6829097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x にくっついている数字を消す操作です。</a:t>
            </a:r>
            <a:endParaRPr sz="2000"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955833" y="3203674"/>
            <a:ext cx="466058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掛けてあるなら「割る」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799" y="4035623"/>
            <a:ext cx="44386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799" y="4747170"/>
            <a:ext cx="4438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1066799" y="5023395"/>
            <a:ext cx="44386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x = 4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6575583" y="3203674"/>
            <a:ext cx="4660582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割ってあるなら「掛ける」</a:t>
            </a:r>
            <a:endParaRPr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86549" y="3840361"/>
            <a:ext cx="4438650" cy="61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86549" y="4667690"/>
            <a:ext cx="44386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686549" y="5039165"/>
            <a:ext cx="4438650" cy="34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x = 6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7160" y="2507536"/>
            <a:ext cx="6004560" cy="111694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90600" y="571500"/>
            <a:ext cx="1096137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カッコがあるとき</a:t>
            </a:r>
            <a:endParaRPr dirty="0"/>
          </a:p>
        </p:txBody>
      </p:sp>
      <p:sp>
        <p:nvSpPr>
          <p:cNvPr id="142" name="Google Shape;142;p17"/>
          <p:cNvSpPr/>
          <p:nvPr/>
        </p:nvSpPr>
        <p:spPr>
          <a:xfrm>
            <a:off x="740735" y="486549"/>
            <a:ext cx="114300" cy="723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938980" y="1655640"/>
            <a:ext cx="742040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カッコは</a:t>
            </a:r>
            <a:r>
              <a:rPr lang="en-US" sz="3200" b="1" i="0" u="none" strike="noStrike" cap="none" dirty="0">
                <a:solidFill>
                  <a:srgbClr val="3B82F6"/>
                </a:solidFill>
                <a:latin typeface="Noto Sans JP"/>
                <a:ea typeface="Noto Sans JP"/>
                <a:cs typeface="Noto Sans JP"/>
                <a:sym typeface="Noto Sans JP"/>
              </a:rPr>
              <a:t>分配法則</a:t>
            </a:r>
            <a:r>
              <a:rPr lang="en-US" sz="320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で先に外します。</a:t>
            </a:r>
            <a:endParaRPr sz="2400" dirty="0"/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9057" y="3851389"/>
            <a:ext cx="2054272" cy="50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2034" y="3851389"/>
            <a:ext cx="1619251" cy="50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32095" y="3851389"/>
            <a:ext cx="1619250" cy="507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85146" y="2902962"/>
            <a:ext cx="2473225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06344" y="2951706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96636" y="2927893"/>
            <a:ext cx="1712714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7F4FA4-3857-5577-EBD8-028A25EFBF15}"/>
              </a:ext>
            </a:extLst>
          </p:cNvPr>
          <p:cNvSpPr txBox="1"/>
          <p:nvPr/>
        </p:nvSpPr>
        <p:spPr>
          <a:xfrm>
            <a:off x="3023863" y="5006516"/>
            <a:ext cx="50690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①②③の順でやりましょう！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71600"/>
            <a:ext cx="540127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8520" y="1371600"/>
            <a:ext cx="54102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3105150"/>
            <a:ext cx="540127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8520" y="3105150"/>
            <a:ext cx="541020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838700"/>
            <a:ext cx="540127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58520" y="4838700"/>
            <a:ext cx="5410200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895350" y="476250"/>
            <a:ext cx="7308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方程式の計算</a:t>
            </a:r>
            <a:r>
              <a:rPr lang="en-US" sz="3300" b="1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：演習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66750" y="476250"/>
            <a:ext cx="114300" cy="6096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57275" y="1952625"/>
            <a:ext cx="371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Q1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649045" y="1952625"/>
            <a:ext cx="371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Q2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057275" y="3686175"/>
            <a:ext cx="371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Q3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649045" y="3686175"/>
            <a:ext cx="371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Q4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057275" y="5419725"/>
            <a:ext cx="371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Q5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649045" y="5419725"/>
            <a:ext cx="3714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Q6</a:t>
            </a:r>
            <a:endParaRPr/>
          </a:p>
        </p:txBody>
      </p:sp>
      <p:pic>
        <p:nvPicPr>
          <p:cNvPr id="98" name="Google Shape;9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24645" y="1985962"/>
            <a:ext cx="1923454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80275" y="1985962"/>
            <a:ext cx="1604664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19250" y="3719512"/>
            <a:ext cx="253424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11020" y="3752850"/>
            <a:ext cx="2543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026592" y="5486400"/>
            <a:ext cx="1719560" cy="385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257157" y="5486400"/>
            <a:ext cx="2450901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0E3DB2E-FCC8-4E01-8332-18825EC2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A80A38DB-8B02-C4DD-F190-34827FE24F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BD09DFC6-13F3-523F-3EF7-9AF7A4C73FA8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式の展開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504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35448"/>
            <a:ext cx="5405437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2635448"/>
            <a:ext cx="5405437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66775" y="2930723"/>
            <a:ext cx="50556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基本ルール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66775" y="3492698"/>
            <a:ext cx="481488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カッコの外の項を、中の各項に漏れなく掛け合わせます。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510337" y="2930723"/>
            <a:ext cx="50556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符号の注意点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10337" y="3492698"/>
            <a:ext cx="4814887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マイナスを掛ける場合、カッコ内のすべての符号が反転します。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01589" y="4311848"/>
            <a:ext cx="254525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43192" y="4311848"/>
            <a:ext cx="294917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47625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分配法則の活用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9122" y="1308682"/>
            <a:ext cx="35876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2712" y="1298213"/>
            <a:ext cx="3587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2864" y="3395291"/>
            <a:ext cx="4954772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19125" y="5588419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64748B"/>
                </a:solidFill>
                <a:latin typeface="Noto Sans JP"/>
                <a:ea typeface="Noto Sans JP"/>
                <a:cs typeface="Noto Sans JP"/>
                <a:sym typeface="Noto Sans JP"/>
              </a:rPr>
              <a:t>※これらの公式を暗記することで、計算速度と正確性が大幅に向上します。</a:t>
            </a:r>
            <a:endParaRPr sz="2400"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715040" y="1557709"/>
            <a:ext cx="35470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平方の公式</a:t>
            </a:r>
            <a:endParaRPr dirty="0"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22448" y="2127764"/>
            <a:ext cx="4260997" cy="33039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477985" y="1505917"/>
            <a:ext cx="35471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和と差の積</a:t>
            </a:r>
            <a:endParaRPr dirty="0"/>
          </a:p>
        </p:txBody>
      </p:sp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57901" y="2158527"/>
            <a:ext cx="4391643" cy="334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4196748" y="3603263"/>
            <a:ext cx="35470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一般の展開</a:t>
            </a:r>
            <a:endParaRPr dirty="0"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88628" y="4243198"/>
            <a:ext cx="4763247" cy="32464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62000" y="47625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重要な乗法公式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46720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7437" y="1146720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39355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437" y="2939355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731990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67437" y="4731990"/>
            <a:ext cx="5453062" cy="164975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66775" y="1819126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Q1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462712" y="1819126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Q2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66775" y="3611760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Q3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462712" y="3611760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Q4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5404395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Q5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462712" y="5404395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Q6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45357" y="1847701"/>
            <a:ext cx="159097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31893" y="1847701"/>
            <a:ext cx="20097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38213" y="3551932"/>
            <a:ext cx="1605111" cy="431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987629" y="3640335"/>
            <a:ext cx="3098303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636662" y="5447258"/>
            <a:ext cx="2608212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68604" y="5432970"/>
            <a:ext cx="2736353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62000" y="476250"/>
            <a:ext cx="11401425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式の展開</a:t>
            </a:r>
            <a:r>
              <a:rPr lang="ja-JP" alt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：演習</a:t>
            </a:r>
            <a:endParaRPr dirty="0"/>
          </a:p>
        </p:txBody>
      </p:sp>
      <p:sp>
        <p:nvSpPr>
          <p:cNvPr id="164" name="Google Shape;164;p17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219DA7C-4D32-7F8C-B832-2C3DFFAE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3EC4A4D0-5B5C-389A-109A-33BF284245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066B3B93-2676-260F-4F75-F644D25E70CD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因数分解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00186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98799"/>
            <a:ext cx="5405437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2298799"/>
            <a:ext cx="5405437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64468" y="4613374"/>
            <a:ext cx="9262913" cy="61629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14400" y="2641699"/>
            <a:ext cx="4955619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定義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3203674"/>
            <a:ext cx="471963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多項式をいくつかの「因数（掛け合わせる数や式）」の積の形に直すことです。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557962" y="2641699"/>
            <a:ext cx="4955619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展開の逆操作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557962" y="3203674"/>
            <a:ext cx="471963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「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式の展開」がカッコを外す操作なら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、「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因数分解」はカッコで括る操作です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76250"/>
            <a:ext cx="7816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因数分解とは？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21223"/>
            <a:ext cx="11049000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578298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すべての項に共通する数字や文字がある場合、それをカッコの外に出します。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2803" y="3521273"/>
            <a:ext cx="5906392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3712368" y="4792860"/>
            <a:ext cx="533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例：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7979" y="4792860"/>
            <a:ext cx="3947963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476250"/>
            <a:ext cx="6013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共通因数でくくる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21110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97435"/>
            <a:ext cx="110490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373760"/>
            <a:ext cx="1104900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62025" y="2521148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和と積の公式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62025" y="3597473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平方の公式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2025" y="4673798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和と差の積</a:t>
            </a:r>
            <a:endParaRPr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01665" y="2466230"/>
            <a:ext cx="6969918" cy="459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47952" y="3531989"/>
            <a:ext cx="4477345" cy="470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87974" y="4618880"/>
            <a:ext cx="4597300" cy="45973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476250"/>
            <a:ext cx="5778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因数分解の重要公式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146720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7437" y="1146720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39355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67437" y="2939355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731990"/>
            <a:ext cx="5453062" cy="1649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67437" y="4731990"/>
            <a:ext cx="5453062" cy="1649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66775" y="1819126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Q1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462712" y="1819126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Q2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66775" y="3611760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Q3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462712" y="3611760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Q4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66775" y="5404395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Q5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462712" y="5404395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Q6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46573" y="1861988"/>
            <a:ext cx="1188541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28173" y="1753790"/>
            <a:ext cx="2017067" cy="35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15442" y="3546425"/>
            <a:ext cx="1650652" cy="35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32923" y="3546425"/>
            <a:ext cx="2207567" cy="35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380059" y="5339060"/>
            <a:ext cx="1121568" cy="355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432923" y="5339060"/>
            <a:ext cx="2207567" cy="35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8487" y="425386"/>
            <a:ext cx="5837100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因数分解</a:t>
            </a:r>
            <a:r>
              <a:rPr lang="ja-JP" altLang="en-US" sz="315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：</a:t>
            </a:r>
            <a:r>
              <a:rPr lang="ja-JP" altLang="en-US" sz="3150" b="1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演習</a:t>
            </a:r>
            <a:endParaRPr dirty="0"/>
          </a:p>
        </p:txBody>
      </p:sp>
      <p:sp>
        <p:nvSpPr>
          <p:cNvPr id="143" name="Google Shape;143;p16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D0A2198-7CA9-B4FC-1FBB-F1F334B4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53D522F5-7AE6-99FB-D9CB-0B51BA0BAA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05BFB5DF-B672-63EB-F2FC-3C596D43F834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文字と式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7574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23666"/>
            <a:ext cx="5405437" cy="2776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2423666"/>
            <a:ext cx="5405437" cy="2776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269432"/>
            <a:ext cx="4719637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7962" y="4269432"/>
            <a:ext cx="4719637" cy="58757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914400" y="2766566"/>
            <a:ext cx="4955619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積の表し方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14400" y="3347591"/>
            <a:ext cx="4719637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・×（かける）を省く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 ・数字は文字の前に書く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557962" y="2766566"/>
            <a:ext cx="4955619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商の表し方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557962" y="3347591"/>
            <a:ext cx="4719637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・÷（わる）は使わず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 ・分数の形で書く</a:t>
            </a:r>
            <a:endParaRPr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45568" y="4412307"/>
            <a:ext cx="1257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3098" y="4412307"/>
            <a:ext cx="1109364" cy="30182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762000" y="476250"/>
            <a:ext cx="59742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文字式の基本ルール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31615"/>
            <a:ext cx="11049000" cy="1112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0355"/>
            <a:ext cx="110490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96730"/>
            <a:ext cx="110490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14400" y="2074515"/>
            <a:ext cx="103632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代金の基本：</a:t>
            </a:r>
            <a:r>
              <a:rPr lang="en-US" sz="21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 (単価) × (個数)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97960" y="3720405"/>
            <a:ext cx="142621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7730" y="5196780"/>
            <a:ext cx="175215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476250"/>
            <a:ext cx="60528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文章を式にする：代金とおつり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76512"/>
            <a:ext cx="5405437" cy="247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5062" y="2576512"/>
            <a:ext cx="5405437" cy="2470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056608"/>
            <a:ext cx="4719637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7962" y="4056608"/>
            <a:ext cx="4719637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14400" y="2919412"/>
            <a:ext cx="4955619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進んだ道のり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3500437"/>
            <a:ext cx="4719637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道のり = 速さ × 時間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557962" y="2919412"/>
            <a:ext cx="4955619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残りの水量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57962" y="3500437"/>
            <a:ext cx="4719637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100Lから毎分aLずつb分抜く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005137"/>
            <a:ext cx="1905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67966" y="4270920"/>
            <a:ext cx="26684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57962" y="30051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06890" y="4256633"/>
            <a:ext cx="1142851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62000" y="476250"/>
            <a:ext cx="589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道のり・水量の変化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31441"/>
            <a:ext cx="11049000" cy="223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50059"/>
            <a:ext cx="11049000" cy="204207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914400" y="1874341"/>
            <a:ext cx="1088136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平均点：(合計) ÷ (回数)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14400" y="2455366"/>
            <a:ext cx="10363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点数が a, b, c, d 点のとき：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14400" y="4392959"/>
            <a:ext cx="1088136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F4444"/>
                </a:solidFill>
                <a:latin typeface="Noto Sans JP"/>
                <a:ea typeface="Noto Sans JP"/>
                <a:cs typeface="Noto Sans JP"/>
                <a:sym typeface="Noto Sans JP"/>
              </a:rPr>
              <a:t>負の方向への移動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14400" y="4973984"/>
            <a:ext cx="10363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速さ v で t 秒間、負の方向（左）へ移動：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5922" y="2916287"/>
            <a:ext cx="1720155" cy="505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0" y="5434905"/>
            <a:ext cx="761851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762000" y="476250"/>
            <a:ext cx="5895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平均と座標（負の方向）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568648"/>
            <a:ext cx="11049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40173"/>
            <a:ext cx="11049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11698"/>
            <a:ext cx="11049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883223"/>
            <a:ext cx="11049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654748"/>
            <a:ext cx="11049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426273"/>
            <a:ext cx="11049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19150" y="1744860"/>
            <a:ext cx="381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200150" y="1730573"/>
            <a:ext cx="760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1000円出してa円の商品を3個買ったときのおつり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19150" y="2516385"/>
            <a:ext cx="381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200150" y="2502098"/>
            <a:ext cx="760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分速vmでt分間歩いたときに進んだ道のりdm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19150" y="3287910"/>
            <a:ext cx="381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200150" y="3273623"/>
            <a:ext cx="760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a, b, c, d点の4回のテストの平均点m点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19150" y="4059435"/>
            <a:ext cx="381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4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200150" y="4045148"/>
            <a:ext cx="760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100Lの水槽から、毎分aLずつb分間水を抜いた残りの量L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19150" y="4830960"/>
            <a:ext cx="381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5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200150" y="4816673"/>
            <a:ext cx="760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a円の商品2個とb円の商品5個に10%の消費税を加えた合計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19150" y="5602485"/>
            <a:ext cx="381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AB308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200150" y="5588198"/>
            <a:ext cx="7600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定価x円の商品をy%引きで10個買った合計金額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476250"/>
            <a:ext cx="5856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演習問題：文字と式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476250"/>
            <a:ext cx="95250" cy="47997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838</Words>
  <Application>Microsoft Office PowerPoint</Application>
  <PresentationFormat>ワイド画面</PresentationFormat>
  <Paragraphs>237</Paragraphs>
  <Slides>42</Slides>
  <Notes>41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42</vt:i4>
      </vt:variant>
    </vt:vector>
  </HeadingPairs>
  <TitlesOfParts>
    <vt:vector size="50" baseType="lpstr">
      <vt:lpstr>Inter</vt:lpstr>
      <vt:lpstr>Calibri</vt:lpstr>
      <vt:lpstr>Inter SemiBold</vt:lpstr>
      <vt:lpstr>Poppins</vt:lpstr>
      <vt:lpstr>Noto Sans JP</vt:lpstr>
      <vt:lpstr>Arial</vt:lpstr>
      <vt:lpstr>Cambria Math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内藤 真広</dc:creator>
  <cp:lastModifiedBy>内藤 真広</cp:lastModifiedBy>
  <cp:revision>160</cp:revision>
  <dcterms:modified xsi:type="dcterms:W3CDTF">2026-04-23T05:55:40Z</dcterms:modified>
</cp:coreProperties>
</file>