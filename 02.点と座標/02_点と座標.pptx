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71" r:id="rId3"/>
    <p:sldId id="275" r:id="rId4"/>
    <p:sldId id="258" r:id="rId5"/>
    <p:sldId id="274" r:id="rId6"/>
    <p:sldId id="260" r:id="rId7"/>
    <p:sldId id="261" r:id="rId8"/>
    <p:sldId id="262" r:id="rId9"/>
    <p:sldId id="263" r:id="rId10"/>
    <p:sldId id="264" r:id="rId11"/>
    <p:sldId id="276" r:id="rId12"/>
    <p:sldId id="277" r:id="rId13"/>
    <p:sldId id="265" r:id="rId14"/>
    <p:sldId id="266" r:id="rId15"/>
    <p:sldId id="267" r:id="rId16"/>
    <p:sldId id="278" r:id="rId17"/>
    <p:sldId id="268" r:id="rId18"/>
    <p:sldId id="269" r:id="rId19"/>
    <p:sldId id="279" r:id="rId20"/>
    <p:sldId id="280" r:id="rId21"/>
  </p:sldIdLst>
  <p:sldSz cx="12192000" cy="6858000"/>
  <p:notesSz cx="6858000" cy="9144000"/>
  <p:embeddedFontLst>
    <p:embeddedFont>
      <p:font typeface="Inter" panose="020B0600070205080204" charset="-128"/>
      <p:regular r:id="rId23"/>
      <p:bold r:id="rId24"/>
      <p:italic r:id="rId25"/>
      <p:boldItalic r:id="rId26"/>
    </p:embeddedFont>
    <p:embeddedFont>
      <p:font typeface="Cambria Math" panose="02040503050406030204" pitchFamily="18" charset="0"/>
      <p:regular r:id="rId27"/>
    </p:embeddedFont>
    <p:embeddedFont>
      <p:font typeface="Noto Sans JP" panose="020B0200000000000000" pitchFamily="50" charset="-128"/>
      <p:regular r:id="rId28"/>
      <p:bold r:id="rId29"/>
    </p:embeddedFont>
    <p:embeddedFont>
      <p:font typeface="Poppins" panose="000005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4" y="58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ja-JP"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F85E2243-DD49-FF32-2A61-640B36BD1A97}"/>
            </a:ext>
          </a:extLst>
        </p:cNvPr>
        <p:cNvGrpSpPr/>
        <p:nvPr/>
      </p:nvGrpSpPr>
      <p:grpSpPr>
        <a:xfrm>
          <a:off x="0" y="0"/>
          <a:ext cx="0" cy="0"/>
          <a:chOff x="0" y="0"/>
          <a:chExt cx="0" cy="0"/>
        </a:xfrm>
      </p:grpSpPr>
      <p:sp>
        <p:nvSpPr>
          <p:cNvPr id="152" name="Google Shape;152;p8:notes">
            <a:extLst>
              <a:ext uri="{FF2B5EF4-FFF2-40B4-BE49-F238E27FC236}">
                <a16:creationId xmlns:a16="http://schemas.microsoft.com/office/drawing/2014/main" id="{D8CA7C75-A1F4-F0BA-311D-2A099FF9FB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8:notes">
            <a:extLst>
              <a:ext uri="{FF2B5EF4-FFF2-40B4-BE49-F238E27FC236}">
                <a16:creationId xmlns:a16="http://schemas.microsoft.com/office/drawing/2014/main" id="{F1849A65-BA1D-6445-D7F5-484E4A71AE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2336285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C77C085E-EE09-EEC1-E07A-69575792A847}"/>
            </a:ext>
          </a:extLst>
        </p:cNvPr>
        <p:cNvGrpSpPr/>
        <p:nvPr/>
      </p:nvGrpSpPr>
      <p:grpSpPr>
        <a:xfrm>
          <a:off x="0" y="0"/>
          <a:ext cx="0" cy="0"/>
          <a:chOff x="0" y="0"/>
          <a:chExt cx="0" cy="0"/>
        </a:xfrm>
      </p:grpSpPr>
      <p:sp>
        <p:nvSpPr>
          <p:cNvPr id="152" name="Google Shape;152;p8:notes">
            <a:extLst>
              <a:ext uri="{FF2B5EF4-FFF2-40B4-BE49-F238E27FC236}">
                <a16:creationId xmlns:a16="http://schemas.microsoft.com/office/drawing/2014/main" id="{71623B34-B9C2-19D7-1864-D33FFDE739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8:notes">
            <a:extLst>
              <a:ext uri="{FF2B5EF4-FFF2-40B4-BE49-F238E27FC236}">
                <a16:creationId xmlns:a16="http://schemas.microsoft.com/office/drawing/2014/main" id="{35ED2F0F-D93B-0EE0-1643-BAD55D555D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4284877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40EC9EA7-F52C-96D9-7003-BC067B1E0AB1}"/>
            </a:ext>
          </a:extLst>
        </p:cNvPr>
        <p:cNvGrpSpPr/>
        <p:nvPr/>
      </p:nvGrpSpPr>
      <p:grpSpPr>
        <a:xfrm>
          <a:off x="0" y="0"/>
          <a:ext cx="0" cy="0"/>
          <a:chOff x="0" y="0"/>
          <a:chExt cx="0" cy="0"/>
        </a:xfrm>
      </p:grpSpPr>
      <p:sp>
        <p:nvSpPr>
          <p:cNvPr id="159" name="Google Shape;159;p9:notes">
            <a:extLst>
              <a:ext uri="{FF2B5EF4-FFF2-40B4-BE49-F238E27FC236}">
                <a16:creationId xmlns:a16="http://schemas.microsoft.com/office/drawing/2014/main" id="{E462C502-6BE2-7812-DEEA-70BF07EF93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9:notes">
            <a:extLst>
              <a:ext uri="{FF2B5EF4-FFF2-40B4-BE49-F238E27FC236}">
                <a16:creationId xmlns:a16="http://schemas.microsoft.com/office/drawing/2014/main" id="{644631FE-9CE3-53A2-F1EE-58AE483751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41481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9AB84865-0345-A3E4-23BC-55EA3DF2FAB1}"/>
            </a:ext>
          </a:extLst>
        </p:cNvPr>
        <p:cNvGrpSpPr/>
        <p:nvPr/>
      </p:nvGrpSpPr>
      <p:grpSpPr>
        <a:xfrm>
          <a:off x="0" y="0"/>
          <a:ext cx="0" cy="0"/>
          <a:chOff x="0" y="0"/>
          <a:chExt cx="0" cy="0"/>
        </a:xfrm>
      </p:grpSpPr>
      <p:sp>
        <p:nvSpPr>
          <p:cNvPr id="159" name="Google Shape;159;p9:notes">
            <a:extLst>
              <a:ext uri="{FF2B5EF4-FFF2-40B4-BE49-F238E27FC236}">
                <a16:creationId xmlns:a16="http://schemas.microsoft.com/office/drawing/2014/main" id="{E474B641-5B2C-BB7D-23AE-0EC1057BF5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9:notes">
            <a:extLst>
              <a:ext uri="{FF2B5EF4-FFF2-40B4-BE49-F238E27FC236}">
                <a16:creationId xmlns:a16="http://schemas.microsoft.com/office/drawing/2014/main" id="{095ED431-CFA8-C435-088C-FAE806A1C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372923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EF8CB849-ED50-6CB9-0F07-7F686D99D269}"/>
            </a:ext>
          </a:extLst>
        </p:cNvPr>
        <p:cNvGrpSpPr/>
        <p:nvPr/>
      </p:nvGrpSpPr>
      <p:grpSpPr>
        <a:xfrm>
          <a:off x="0" y="0"/>
          <a:ext cx="0" cy="0"/>
          <a:chOff x="0" y="0"/>
          <a:chExt cx="0" cy="0"/>
        </a:xfrm>
      </p:grpSpPr>
      <p:sp>
        <p:nvSpPr>
          <p:cNvPr id="191" name="Google Shape;191;p12:notes">
            <a:extLst>
              <a:ext uri="{FF2B5EF4-FFF2-40B4-BE49-F238E27FC236}">
                <a16:creationId xmlns:a16="http://schemas.microsoft.com/office/drawing/2014/main" id="{CF462015-2288-F22C-FA05-E2C5FB32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2:notes">
            <a:extLst>
              <a:ext uri="{FF2B5EF4-FFF2-40B4-BE49-F238E27FC236}">
                <a16:creationId xmlns:a16="http://schemas.microsoft.com/office/drawing/2014/main" id="{179E99EA-130C-D6F6-456B-79F92F81F7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1772194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95DD3E27-E280-D0EB-E551-6286864B9AAA}"/>
            </a:ext>
          </a:extLst>
        </p:cNvPr>
        <p:cNvGrpSpPr/>
        <p:nvPr/>
      </p:nvGrpSpPr>
      <p:grpSpPr>
        <a:xfrm>
          <a:off x="0" y="0"/>
          <a:ext cx="0" cy="0"/>
          <a:chOff x="0" y="0"/>
          <a:chExt cx="0" cy="0"/>
        </a:xfrm>
      </p:grpSpPr>
      <p:sp>
        <p:nvSpPr>
          <p:cNvPr id="210" name="Google Shape;210;p14:notes">
            <a:extLst>
              <a:ext uri="{FF2B5EF4-FFF2-40B4-BE49-F238E27FC236}">
                <a16:creationId xmlns:a16="http://schemas.microsoft.com/office/drawing/2014/main" id="{F9F41C2A-8031-21C3-B8B0-DB541E901A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4:notes">
            <a:extLst>
              <a:ext uri="{FF2B5EF4-FFF2-40B4-BE49-F238E27FC236}">
                <a16:creationId xmlns:a16="http://schemas.microsoft.com/office/drawing/2014/main" id="{4B6AEC45-3001-E1FE-E88D-BC877224D8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2555511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604B322F-C8EB-BAFA-5248-80656C693913}"/>
            </a:ext>
          </a:extLst>
        </p:cNvPr>
        <p:cNvGrpSpPr/>
        <p:nvPr/>
      </p:nvGrpSpPr>
      <p:grpSpPr>
        <a:xfrm>
          <a:off x="0" y="0"/>
          <a:ext cx="0" cy="0"/>
          <a:chOff x="0" y="0"/>
          <a:chExt cx="0" cy="0"/>
        </a:xfrm>
      </p:grpSpPr>
      <p:sp>
        <p:nvSpPr>
          <p:cNvPr id="210" name="Google Shape;210;p14:notes">
            <a:extLst>
              <a:ext uri="{FF2B5EF4-FFF2-40B4-BE49-F238E27FC236}">
                <a16:creationId xmlns:a16="http://schemas.microsoft.com/office/drawing/2014/main" id="{8ABF59FB-C736-043F-0055-47F11B932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4:notes">
            <a:extLst>
              <a:ext uri="{FF2B5EF4-FFF2-40B4-BE49-F238E27FC236}">
                <a16:creationId xmlns:a16="http://schemas.microsoft.com/office/drawing/2014/main" id="{AE402C71-3DB1-03C3-AEC3-31C5328EC3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2826388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ja-JP" alt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jp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5088"/>
        </a:solidFill>
        <a:effectLst/>
      </p:bgPr>
    </p:bg>
    <p:spTree>
      <p:nvGrpSpPr>
        <p:cNvPr id="1" name="Shape 83"/>
        <p:cNvGrpSpPr/>
        <p:nvPr/>
      </p:nvGrpSpPr>
      <p:grpSpPr>
        <a:xfrm>
          <a:off x="0" y="0"/>
          <a:ext cx="0" cy="0"/>
          <a:chOff x="0" y="0"/>
          <a:chExt cx="0" cy="0"/>
        </a:xfrm>
      </p:grpSpPr>
      <p:sp>
        <p:nvSpPr>
          <p:cNvPr id="85" name="Google Shape;85;p13"/>
          <p:cNvSpPr txBox="1"/>
          <p:nvPr/>
        </p:nvSpPr>
        <p:spPr>
          <a:xfrm>
            <a:off x="4485798" y="2396430"/>
            <a:ext cx="3220402"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FFFFF"/>
                </a:solidFill>
                <a:latin typeface="Poppins"/>
                <a:ea typeface="Poppins"/>
                <a:cs typeface="Poppins"/>
                <a:sym typeface="Poppins"/>
              </a:rPr>
              <a:t>点と座標</a:t>
            </a:r>
            <a:endParaRPr/>
          </a:p>
        </p:txBody>
      </p:sp>
      <p:sp>
        <p:nvSpPr>
          <p:cNvPr id="86" name="Google Shape;86;p13"/>
          <p:cNvSpPr txBox="1"/>
          <p:nvPr/>
        </p:nvSpPr>
        <p:spPr>
          <a:xfrm>
            <a:off x="2235828" y="3666867"/>
            <a:ext cx="7720341" cy="5170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ja-JP" altLang="en-US" sz="2400" dirty="0">
                <a:solidFill>
                  <a:srgbClr val="F3F0DF"/>
                </a:solidFill>
                <a:latin typeface="Noto Sans JP"/>
                <a:ea typeface="Noto Sans JP"/>
                <a:sym typeface="Noto Sans JP"/>
              </a:rPr>
              <a:t>「動き」を考える上で必須の基礎知識を学びます。</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1047750" y="1819275"/>
            <a:ext cx="4286250" cy="428625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1057275" y="1828800"/>
            <a:ext cx="4267200" cy="4267200"/>
          </a:xfrm>
          <a:prstGeom prst="rect">
            <a:avLst/>
          </a:prstGeom>
          <a:noFill/>
          <a:ln>
            <a:noFill/>
          </a:ln>
        </p:spPr>
      </p:pic>
      <p:sp>
        <p:nvSpPr>
          <p:cNvPr id="95" name="Google Shape;95;p14"/>
          <p:cNvSpPr txBox="1"/>
          <p:nvPr/>
        </p:nvSpPr>
        <p:spPr>
          <a:xfrm>
            <a:off x="6381750" y="2505543"/>
            <a:ext cx="5500687" cy="430887"/>
          </a:xfrm>
          <a:prstGeom prst="rect">
            <a:avLst/>
          </a:prstGeom>
          <a:noFill/>
          <a:ln>
            <a:noFill/>
          </a:ln>
        </p:spPr>
        <p:txBody>
          <a:bodyPr spcFirstLastPara="1" wrap="square" lIns="0" tIns="0" rIns="0" bIns="0" anchor="t" anchorCtr="0">
            <a:spAutoFit/>
          </a:bodyPr>
          <a:lstStyle/>
          <a:p>
            <a:r>
              <a:rPr lang="ja-JP" altLang="en-US" sz="2800" b="1" dirty="0">
                <a:solidFill>
                  <a:srgbClr val="0F172A"/>
                </a:solidFill>
                <a:latin typeface="Poppins"/>
                <a:ea typeface="Poppins"/>
                <a:cs typeface="Poppins"/>
                <a:sym typeface="Poppins"/>
              </a:rPr>
              <a:t>「動き」の基礎</a:t>
            </a:r>
            <a:endParaRPr lang="ja-JP" altLang="en-US" sz="2800" dirty="0"/>
          </a:p>
        </p:txBody>
      </p:sp>
      <p:sp>
        <p:nvSpPr>
          <p:cNvPr id="96" name="Google Shape;96;p14"/>
          <p:cNvSpPr txBox="1"/>
          <p:nvPr/>
        </p:nvSpPr>
        <p:spPr>
          <a:xfrm>
            <a:off x="6381750" y="3041201"/>
            <a:ext cx="5238750" cy="775597"/>
          </a:xfrm>
          <a:prstGeom prst="rect">
            <a:avLst/>
          </a:prstGeom>
          <a:noFill/>
          <a:ln>
            <a:noFill/>
          </a:ln>
        </p:spPr>
        <p:txBody>
          <a:bodyPr spcFirstLastPara="1" wrap="square" lIns="0" tIns="0" rIns="0" bIns="0" anchor="t" anchorCtr="0">
            <a:spAutoFit/>
          </a:bodyPr>
          <a:lstStyle/>
          <a:p>
            <a:pPr>
              <a:lnSpc>
                <a:spcPct val="140000"/>
              </a:lnSpc>
            </a:pPr>
            <a:r>
              <a:rPr lang="ja-JP" altLang="en-US" sz="1800" dirty="0">
                <a:solidFill>
                  <a:srgbClr val="475569"/>
                </a:solidFill>
                <a:latin typeface="Inter"/>
                <a:ea typeface="Inter"/>
                <a:cs typeface="Inter"/>
                <a:sym typeface="Inter"/>
              </a:rPr>
              <a:t>この講義では、物体の運動を考える上での基礎中の基礎である。座標について考えます。</a:t>
            </a:r>
            <a:endParaRPr lang="ja-JP" altLang="en-US" sz="1800" dirty="0"/>
          </a:p>
        </p:txBody>
      </p:sp>
      <p:sp>
        <p:nvSpPr>
          <p:cNvPr id="97" name="Google Shape;97;p14"/>
          <p:cNvSpPr txBox="1"/>
          <p:nvPr/>
        </p:nvSpPr>
        <p:spPr>
          <a:xfrm>
            <a:off x="6381750" y="3962400"/>
            <a:ext cx="5500687" cy="1551194"/>
          </a:xfrm>
          <a:prstGeom prst="rect">
            <a:avLst/>
          </a:prstGeom>
          <a:noFill/>
          <a:ln>
            <a:noFill/>
          </a:ln>
        </p:spPr>
        <p:txBody>
          <a:bodyPr spcFirstLastPara="1" wrap="square" lIns="0" tIns="0" rIns="0" bIns="0" anchor="t" anchorCtr="0">
            <a:spAutoFit/>
          </a:bodyPr>
          <a:lstStyle/>
          <a:p>
            <a:pPr>
              <a:lnSpc>
                <a:spcPct val="140000"/>
              </a:lnSpc>
            </a:pPr>
            <a:r>
              <a:rPr lang="ja-JP" altLang="en-US" sz="1800" b="1" dirty="0">
                <a:solidFill>
                  <a:srgbClr val="FF0000"/>
                </a:solidFill>
                <a:latin typeface="Inter"/>
                <a:ea typeface="Inter"/>
                <a:cs typeface="Inter"/>
                <a:sym typeface="Inter"/>
              </a:rPr>
              <a:t>プログラマどころかプランナーでも必須の知識</a:t>
            </a:r>
            <a:r>
              <a:rPr lang="ja-JP" altLang="en-US" sz="1800" dirty="0">
                <a:solidFill>
                  <a:srgbClr val="475569"/>
                </a:solidFill>
                <a:latin typeface="Inter"/>
                <a:ea typeface="Inter"/>
                <a:cs typeface="Inter"/>
                <a:sym typeface="Inter"/>
              </a:rPr>
              <a:t>です。</a:t>
            </a:r>
            <a:br>
              <a:rPr lang="en-US" altLang="ja-JP" sz="1800" dirty="0">
                <a:solidFill>
                  <a:srgbClr val="475569"/>
                </a:solidFill>
                <a:latin typeface="Inter"/>
                <a:ea typeface="Inter"/>
                <a:cs typeface="Inter"/>
                <a:sym typeface="Inter"/>
              </a:rPr>
            </a:br>
            <a:r>
              <a:rPr lang="ja-JP" altLang="en-US" sz="1800" dirty="0">
                <a:solidFill>
                  <a:srgbClr val="475569"/>
                </a:solidFill>
                <a:latin typeface="Inter"/>
                <a:ea typeface="Inter"/>
                <a:cs typeface="Inter"/>
                <a:sym typeface="Inter"/>
              </a:rPr>
              <a:t>誰でも作れる</a:t>
            </a:r>
            <a:r>
              <a:rPr lang="en-US" altLang="ja-JP" sz="1800" dirty="0">
                <a:solidFill>
                  <a:srgbClr val="475569"/>
                </a:solidFill>
                <a:latin typeface="Inter"/>
                <a:ea typeface="Inter"/>
                <a:cs typeface="Inter"/>
                <a:sym typeface="Inter"/>
              </a:rPr>
              <a:t>』</a:t>
            </a:r>
            <a:r>
              <a:rPr lang="ja-JP" altLang="en-US" sz="1800" dirty="0">
                <a:solidFill>
                  <a:srgbClr val="475569"/>
                </a:solidFill>
                <a:latin typeface="Inter"/>
                <a:ea typeface="Inter"/>
                <a:cs typeface="Inter"/>
                <a:sym typeface="Inter"/>
              </a:rPr>
              <a:t>と謳っている汎用ゲームエンジンでもここが分かっていない人は想定していないので、絶対に理解してください。</a:t>
            </a:r>
            <a:endParaRPr lang="ja-JP" altLang="en-US" sz="1800" dirty="0"/>
          </a:p>
        </p:txBody>
      </p:sp>
      <p:sp>
        <p:nvSpPr>
          <p:cNvPr id="98" name="Google Shape;98;p14"/>
          <p:cNvSpPr txBox="1"/>
          <p:nvPr/>
        </p:nvSpPr>
        <p:spPr>
          <a:xfrm>
            <a:off x="762000" y="571500"/>
            <a:ext cx="11401425"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F172A"/>
                </a:solidFill>
                <a:latin typeface="Poppins"/>
                <a:ea typeface="Poppins"/>
                <a:cs typeface="Poppins"/>
                <a:sym typeface="Poppins"/>
              </a:rPr>
              <a:t>概要</a:t>
            </a:r>
            <a:endParaRPr/>
          </a:p>
        </p:txBody>
      </p:sp>
      <p:sp>
        <p:nvSpPr>
          <p:cNvPr id="99" name="Google Shape;99;p14"/>
          <p:cNvSpPr/>
          <p:nvPr/>
        </p:nvSpPr>
        <p:spPr>
          <a:xfrm>
            <a:off x="571500" y="571500"/>
            <a:ext cx="95250" cy="685800"/>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D35F039B-BCF8-1B6B-0740-51C4D4F65BF4}"/>
            </a:ext>
          </a:extLst>
        </p:cNvPr>
        <p:cNvGrpSpPr/>
        <p:nvPr/>
      </p:nvGrpSpPr>
      <p:grpSpPr>
        <a:xfrm>
          <a:off x="0" y="0"/>
          <a:ext cx="0" cy="0"/>
          <a:chOff x="0" y="0"/>
          <a:chExt cx="0" cy="0"/>
        </a:xfrm>
      </p:grpSpPr>
      <p:sp>
        <p:nvSpPr>
          <p:cNvPr id="157" name="Google Shape;157;p20">
            <a:extLst>
              <a:ext uri="{FF2B5EF4-FFF2-40B4-BE49-F238E27FC236}">
                <a16:creationId xmlns:a16="http://schemas.microsoft.com/office/drawing/2014/main" id="{58393936-DF95-1622-330D-75B7D676D55C}"/>
              </a:ext>
            </a:extLst>
          </p:cNvPr>
          <p:cNvSpPr txBox="1"/>
          <p:nvPr/>
        </p:nvSpPr>
        <p:spPr>
          <a:xfrm>
            <a:off x="3995737" y="2813447"/>
            <a:ext cx="4200525" cy="12311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000" b="1" i="0" u="none" strike="noStrike" cap="none" dirty="0">
                <a:solidFill>
                  <a:srgbClr val="005088"/>
                </a:solidFill>
                <a:latin typeface="Noto Sans JP"/>
                <a:ea typeface="Noto Sans JP"/>
                <a:cs typeface="Noto Sans JP"/>
                <a:sym typeface="Noto Sans JP"/>
              </a:rPr>
              <a:t>点と</a:t>
            </a:r>
            <a:r>
              <a:rPr lang="ja-JP" altLang="en-US" sz="8000" b="1" i="0" u="none" strike="noStrike" cap="none" dirty="0">
                <a:solidFill>
                  <a:srgbClr val="005088"/>
                </a:solidFill>
                <a:latin typeface="Noto Sans JP"/>
                <a:ea typeface="Noto Sans JP"/>
                <a:cs typeface="Noto Sans JP"/>
                <a:sym typeface="Noto Sans JP"/>
              </a:rPr>
              <a:t>座標</a:t>
            </a:r>
            <a:endParaRPr sz="2800" dirty="0"/>
          </a:p>
        </p:txBody>
      </p:sp>
    </p:spTree>
    <p:extLst>
      <p:ext uri="{BB962C8B-B14F-4D97-AF65-F5344CB8AC3E}">
        <p14:creationId xmlns:p14="http://schemas.microsoft.com/office/powerpoint/2010/main" val="527513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551259" y="4917876"/>
            <a:ext cx="5334000" cy="1593283"/>
          </a:xfrm>
          <a:prstGeom prst="rect">
            <a:avLst/>
          </a:prstGeom>
          <a:noFill/>
          <a:ln>
            <a:noFill/>
          </a:ln>
        </p:spPr>
      </p:pic>
      <p:sp>
        <p:nvSpPr>
          <p:cNvPr id="101" name="Google Shape;101;p15"/>
          <p:cNvSpPr txBox="1"/>
          <p:nvPr/>
        </p:nvSpPr>
        <p:spPr>
          <a:xfrm>
            <a:off x="590550" y="1554360"/>
            <a:ext cx="5334000"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dirty="0">
                <a:solidFill>
                  <a:srgbClr val="334155"/>
                </a:solidFill>
                <a:latin typeface="Noto Sans JP"/>
                <a:ea typeface="Noto Sans JP"/>
                <a:cs typeface="Noto Sans JP"/>
                <a:sym typeface="Noto Sans JP"/>
              </a:rPr>
              <a:t>点の位置を示す値を座標と呼びます。ある点を基準にどれだけ離れているかを示します。</a:t>
            </a:r>
            <a:endParaRPr sz="1600" dirty="0"/>
          </a:p>
        </p:txBody>
      </p:sp>
      <p:sp>
        <p:nvSpPr>
          <p:cNvPr id="104" name="Google Shape;104;p15"/>
          <p:cNvSpPr txBox="1"/>
          <p:nvPr/>
        </p:nvSpPr>
        <p:spPr>
          <a:xfrm>
            <a:off x="885825" y="3396495"/>
            <a:ext cx="6667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dirty="0"/>
          </a:p>
        </p:txBody>
      </p:sp>
      <p:sp>
        <p:nvSpPr>
          <p:cNvPr id="105" name="Google Shape;105;p15"/>
          <p:cNvSpPr txBox="1"/>
          <p:nvPr/>
        </p:nvSpPr>
        <p:spPr>
          <a:xfrm>
            <a:off x="551259" y="2570084"/>
            <a:ext cx="4953000" cy="517065"/>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66675" tIns="0" rIns="0" bIns="0" anchor="t" anchorCtr="0">
            <a:spAutoFit/>
          </a:bodyPr>
          <a:lstStyle/>
          <a:p>
            <a:pPr marL="0" marR="0" lvl="0" indent="0" algn="l" rtl="0">
              <a:lnSpc>
                <a:spcPct val="140000"/>
              </a:lnSpc>
              <a:spcBef>
                <a:spcPts val="0"/>
              </a:spcBef>
              <a:spcAft>
                <a:spcPts val="0"/>
              </a:spcAft>
              <a:buNone/>
            </a:pPr>
            <a:r>
              <a:rPr lang="en-US" sz="2400" b="1" i="0" u="none" strike="noStrike" cap="none" dirty="0">
                <a:solidFill>
                  <a:srgbClr val="005088"/>
                </a:solidFill>
                <a:latin typeface="Noto Sans JP"/>
                <a:ea typeface="Noto Sans JP"/>
                <a:cs typeface="Noto Sans JP"/>
                <a:sym typeface="Noto Sans JP"/>
              </a:rPr>
              <a:t>原点：</a:t>
            </a:r>
            <a:r>
              <a:rPr lang="en-US" sz="2400" b="0" i="0" u="none" strike="noStrike" cap="none" dirty="0">
                <a:solidFill>
                  <a:srgbClr val="334155"/>
                </a:solidFill>
                <a:latin typeface="Noto Sans JP"/>
                <a:ea typeface="Noto Sans JP"/>
                <a:cs typeface="Noto Sans JP"/>
                <a:sym typeface="Noto Sans JP"/>
              </a:rPr>
              <a:t> 基準となる中心点</a:t>
            </a:r>
            <a:endParaRPr sz="2000" dirty="0"/>
          </a:p>
        </p:txBody>
      </p:sp>
      <p:sp>
        <p:nvSpPr>
          <p:cNvPr id="107" name="Google Shape;107;p15"/>
          <p:cNvSpPr txBox="1"/>
          <p:nvPr/>
        </p:nvSpPr>
        <p:spPr>
          <a:xfrm>
            <a:off x="551259" y="3194901"/>
            <a:ext cx="5343525" cy="1034129"/>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66675" tIns="0" rIns="0" bIns="0" anchor="t" anchorCtr="0">
            <a:spAutoFit/>
          </a:bodyPr>
          <a:lstStyle/>
          <a:p>
            <a:pPr marL="0" marR="0" lvl="0" indent="0" algn="l" rtl="0">
              <a:lnSpc>
                <a:spcPct val="140000"/>
              </a:lnSpc>
              <a:spcBef>
                <a:spcPts val="0"/>
              </a:spcBef>
              <a:spcAft>
                <a:spcPts val="0"/>
              </a:spcAft>
              <a:buNone/>
            </a:pPr>
            <a:r>
              <a:rPr lang="en-US" sz="2400" b="1" i="0" u="none" strike="noStrike" cap="none" dirty="0">
                <a:solidFill>
                  <a:srgbClr val="005088"/>
                </a:solidFill>
                <a:latin typeface="Noto Sans JP"/>
                <a:ea typeface="Noto Sans JP"/>
                <a:cs typeface="Noto Sans JP"/>
                <a:sym typeface="Noto Sans JP"/>
              </a:rPr>
              <a:t>成分：</a:t>
            </a:r>
            <a:r>
              <a:rPr lang="en-US" sz="2400" b="0" i="0" u="none" strike="noStrike" cap="none" dirty="0">
                <a:solidFill>
                  <a:srgbClr val="334155"/>
                </a:solidFill>
                <a:latin typeface="Noto Sans JP"/>
                <a:ea typeface="Noto Sans JP"/>
                <a:cs typeface="Noto Sans JP"/>
                <a:sym typeface="Noto Sans JP"/>
              </a:rPr>
              <a:t> </a:t>
            </a:r>
            <a:r>
              <a:rPr lang="ja-JP" altLang="en-US" sz="2400" b="0" i="0" u="none" strike="noStrike" cap="none" dirty="0">
                <a:solidFill>
                  <a:srgbClr val="334155"/>
                </a:solidFill>
                <a:latin typeface="Noto Sans JP"/>
                <a:ea typeface="Noto Sans JP"/>
                <a:cs typeface="Noto Sans JP"/>
                <a:sym typeface="Noto Sans JP"/>
              </a:rPr>
              <a:t>原点からの距離、</a:t>
            </a:r>
            <a:endParaRPr lang="en-US" altLang="ja-JP" sz="2400" b="0" i="0" u="none" strike="noStrike" cap="none" dirty="0">
              <a:solidFill>
                <a:srgbClr val="334155"/>
              </a:solidFill>
              <a:latin typeface="Noto Sans JP"/>
              <a:ea typeface="Noto Sans JP"/>
              <a:cs typeface="Noto Sans JP"/>
              <a:sym typeface="Noto Sans JP"/>
            </a:endParaRPr>
          </a:p>
          <a:p>
            <a:pPr marL="0" marR="0" lvl="0" indent="0" algn="l" rtl="0">
              <a:lnSpc>
                <a:spcPct val="140000"/>
              </a:lnSpc>
              <a:spcBef>
                <a:spcPts val="0"/>
              </a:spcBef>
              <a:spcAft>
                <a:spcPts val="0"/>
              </a:spcAft>
              <a:buNone/>
            </a:pPr>
            <a:r>
              <a:rPr lang="ja-JP" altLang="en-US" sz="2400" dirty="0">
                <a:solidFill>
                  <a:srgbClr val="334155"/>
                </a:solidFill>
                <a:latin typeface="Noto Sans JP"/>
                <a:ea typeface="Noto Sans JP"/>
                <a:cs typeface="Noto Sans JP"/>
                <a:sym typeface="Noto Sans JP"/>
              </a:rPr>
              <a:t>　　　</a:t>
            </a:r>
            <a:r>
              <a:rPr lang="en-US" sz="2400" b="0" i="0" u="none" strike="noStrike" cap="none" dirty="0">
                <a:solidFill>
                  <a:srgbClr val="334155"/>
                </a:solidFill>
                <a:latin typeface="Noto Sans JP"/>
                <a:ea typeface="Noto Sans JP"/>
                <a:cs typeface="Noto Sans JP"/>
                <a:sym typeface="Noto Sans JP"/>
              </a:rPr>
              <a:t>x成分とy成分で構成</a:t>
            </a:r>
            <a:r>
              <a:rPr lang="ja-JP" altLang="en-US" sz="2400" b="0" i="0" u="none" strike="noStrike" cap="none" dirty="0">
                <a:solidFill>
                  <a:srgbClr val="334155"/>
                </a:solidFill>
                <a:latin typeface="Noto Sans JP"/>
                <a:ea typeface="Noto Sans JP"/>
                <a:cs typeface="Noto Sans JP"/>
                <a:sym typeface="Noto Sans JP"/>
              </a:rPr>
              <a:t>される。</a:t>
            </a:r>
            <a:endParaRPr sz="2000" dirty="0"/>
          </a:p>
        </p:txBody>
      </p:sp>
      <p:sp>
        <p:nvSpPr>
          <p:cNvPr id="109" name="Google Shape;109;p15"/>
          <p:cNvSpPr txBox="1"/>
          <p:nvPr/>
        </p:nvSpPr>
        <p:spPr>
          <a:xfrm>
            <a:off x="590550" y="569438"/>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ja-JP" altLang="en-US" sz="3000" b="1" dirty="0">
                <a:solidFill>
                  <a:srgbClr val="0F172A"/>
                </a:solidFill>
                <a:latin typeface="Noto Sans JP"/>
                <a:ea typeface="Noto Sans JP"/>
                <a:cs typeface="Noto Sans JP"/>
                <a:sym typeface="Noto Sans JP"/>
              </a:rPr>
              <a:t>点の成分</a:t>
            </a:r>
            <a:r>
              <a:rPr lang="en-US" altLang="ja-JP" sz="3000" b="1" dirty="0">
                <a:solidFill>
                  <a:srgbClr val="0F172A"/>
                </a:solidFill>
                <a:latin typeface="Noto Sans JP"/>
                <a:ea typeface="Noto Sans JP"/>
                <a:cs typeface="Noto Sans JP"/>
                <a:sym typeface="Noto Sans JP"/>
              </a:rPr>
              <a:t>(</a:t>
            </a:r>
            <a:r>
              <a:rPr lang="ja-JP" altLang="en-US" sz="3000" b="1" dirty="0">
                <a:solidFill>
                  <a:srgbClr val="0F172A"/>
                </a:solidFill>
                <a:latin typeface="Noto Sans JP"/>
                <a:ea typeface="Noto Sans JP"/>
                <a:cs typeface="Noto Sans JP"/>
                <a:sym typeface="Noto Sans JP"/>
              </a:rPr>
              <a:t>座標</a:t>
            </a:r>
            <a:r>
              <a:rPr lang="en-US" altLang="ja-JP" sz="3000" b="1" dirty="0">
                <a:solidFill>
                  <a:srgbClr val="0F172A"/>
                </a:solidFill>
                <a:latin typeface="Noto Sans JP"/>
                <a:ea typeface="Noto Sans JP"/>
                <a:cs typeface="Noto Sans JP"/>
                <a:sym typeface="Noto Sans JP"/>
              </a:rPr>
              <a:t>)</a:t>
            </a:r>
            <a:r>
              <a:rPr lang="ja-JP" altLang="en-US" sz="3000" b="1" dirty="0">
                <a:solidFill>
                  <a:srgbClr val="0F172A"/>
                </a:solidFill>
                <a:latin typeface="Noto Sans JP"/>
                <a:ea typeface="Noto Sans JP"/>
                <a:cs typeface="Noto Sans JP"/>
                <a:sym typeface="Noto Sans JP"/>
              </a:rPr>
              <a:t> </a:t>
            </a:r>
            <a:r>
              <a:rPr lang="en-US" sz="3000" b="1" i="0" u="none" strike="noStrike" cap="none" dirty="0">
                <a:solidFill>
                  <a:srgbClr val="0F172A"/>
                </a:solidFill>
                <a:latin typeface="Noto Sans JP"/>
                <a:ea typeface="Noto Sans JP"/>
                <a:cs typeface="Noto Sans JP"/>
                <a:sym typeface="Noto Sans JP"/>
              </a:rPr>
              <a:t>と原点</a:t>
            </a:r>
            <a:endParaRPr dirty="0"/>
          </a:p>
        </p:txBody>
      </p:sp>
      <p:sp>
        <p:nvSpPr>
          <p:cNvPr id="2" name="Google Shape;101;p15">
            <a:extLst>
              <a:ext uri="{FF2B5EF4-FFF2-40B4-BE49-F238E27FC236}">
                <a16:creationId xmlns:a16="http://schemas.microsoft.com/office/drawing/2014/main" id="{7318636A-6004-1843-C777-11079CB7177B}"/>
              </a:ext>
            </a:extLst>
          </p:cNvPr>
          <p:cNvSpPr txBox="1"/>
          <p:nvPr/>
        </p:nvSpPr>
        <p:spPr>
          <a:xfrm>
            <a:off x="551259" y="4424006"/>
            <a:ext cx="5334000" cy="3447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1600" b="1" dirty="0"/>
              <a:t>右の図でいえば</a:t>
            </a:r>
            <a:endParaRPr sz="1600" b="1" dirty="0"/>
          </a:p>
        </p:txBody>
      </p:sp>
      <p:sp>
        <p:nvSpPr>
          <p:cNvPr id="3" name="Google Shape;101;p15">
            <a:extLst>
              <a:ext uri="{FF2B5EF4-FFF2-40B4-BE49-F238E27FC236}">
                <a16:creationId xmlns:a16="http://schemas.microsoft.com/office/drawing/2014/main" id="{3E156929-B0DD-49DE-B10A-C76AB92C900B}"/>
              </a:ext>
            </a:extLst>
          </p:cNvPr>
          <p:cNvSpPr txBox="1"/>
          <p:nvPr/>
        </p:nvSpPr>
        <p:spPr>
          <a:xfrm>
            <a:off x="885825" y="5326718"/>
            <a:ext cx="480552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altLang="ja-JP" sz="3600" b="0" i="0" u="none" strike="noStrike" cap="none" dirty="0">
                <a:solidFill>
                  <a:srgbClr val="334155"/>
                </a:solidFill>
                <a:latin typeface="Noto Sans JP"/>
                <a:ea typeface="Noto Sans JP"/>
                <a:cs typeface="Noto Sans JP"/>
                <a:sym typeface="Noto Sans JP"/>
              </a:rPr>
              <a:t>A(2,1), B(1,-2), C(-2,2)</a:t>
            </a:r>
            <a:endParaRPr sz="3200" dirty="0"/>
          </a:p>
        </p:txBody>
      </p:sp>
      <p:pic>
        <p:nvPicPr>
          <p:cNvPr id="7" name="図 6">
            <a:extLst>
              <a:ext uri="{FF2B5EF4-FFF2-40B4-BE49-F238E27FC236}">
                <a16:creationId xmlns:a16="http://schemas.microsoft.com/office/drawing/2014/main" id="{862989B2-ABF7-28B5-6442-6D6B65ECEF7F}"/>
              </a:ext>
            </a:extLst>
          </p:cNvPr>
          <p:cNvPicPr>
            <a:picLocks noChangeAspect="1"/>
          </p:cNvPicPr>
          <p:nvPr/>
        </p:nvPicPr>
        <p:blipFill>
          <a:blip r:embed="rId4"/>
          <a:stretch>
            <a:fillRect/>
          </a:stretch>
        </p:blipFill>
        <p:spPr>
          <a:xfrm>
            <a:off x="7320590" y="148136"/>
            <a:ext cx="4320151" cy="4363642"/>
          </a:xfrm>
          <a:prstGeom prst="rect">
            <a:avLst/>
          </a:prstGeom>
        </p:spPr>
      </p:pic>
      <p:pic>
        <p:nvPicPr>
          <p:cNvPr id="8" name="Google Shape;100;p15" descr="image.png">
            <a:extLst>
              <a:ext uri="{FF2B5EF4-FFF2-40B4-BE49-F238E27FC236}">
                <a16:creationId xmlns:a16="http://schemas.microsoft.com/office/drawing/2014/main" id="{F9FB8778-13B0-F03F-0458-67F6697B7B9F}"/>
              </a:ext>
            </a:extLst>
          </p:cNvPr>
          <p:cNvPicPr preferRelativeResize="0"/>
          <p:nvPr/>
        </p:nvPicPr>
        <p:blipFill rotWithShape="1">
          <a:blip r:embed="rId3">
            <a:alphaModFix/>
          </a:blip>
          <a:srcRect/>
          <a:stretch/>
        </p:blipFill>
        <p:spPr>
          <a:xfrm>
            <a:off x="6372225" y="4917874"/>
            <a:ext cx="5334000" cy="1593283"/>
          </a:xfrm>
          <a:prstGeom prst="rect">
            <a:avLst/>
          </a:prstGeom>
          <a:noFill/>
          <a:ln>
            <a:noFill/>
          </a:ln>
        </p:spPr>
      </p:pic>
      <p:sp>
        <p:nvSpPr>
          <p:cNvPr id="9" name="Google Shape;101;p15">
            <a:extLst>
              <a:ext uri="{FF2B5EF4-FFF2-40B4-BE49-F238E27FC236}">
                <a16:creationId xmlns:a16="http://schemas.microsoft.com/office/drawing/2014/main" id="{00F07C15-4479-7627-311B-0732DB4761ED}"/>
              </a:ext>
            </a:extLst>
          </p:cNvPr>
          <p:cNvSpPr txBox="1"/>
          <p:nvPr/>
        </p:nvSpPr>
        <p:spPr>
          <a:xfrm>
            <a:off x="7265604" y="5340457"/>
            <a:ext cx="3547241" cy="77559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altLang="ja-JP" sz="3600" b="0" i="0" u="none" strike="noStrike" cap="none" dirty="0">
                <a:solidFill>
                  <a:srgbClr val="334155"/>
                </a:solidFill>
                <a:latin typeface="Noto Sans JP"/>
                <a:ea typeface="Noto Sans JP"/>
                <a:cs typeface="Noto Sans JP"/>
                <a:sym typeface="Noto Sans JP"/>
              </a:rPr>
              <a:t>(X</a:t>
            </a:r>
            <a:r>
              <a:rPr lang="ja-JP" altLang="en-US" sz="3600" b="0" i="0" u="none" strike="noStrike" cap="none" dirty="0">
                <a:solidFill>
                  <a:srgbClr val="334155"/>
                </a:solidFill>
                <a:latin typeface="Noto Sans JP"/>
                <a:ea typeface="Noto Sans JP"/>
                <a:cs typeface="Noto Sans JP"/>
                <a:sym typeface="Noto Sans JP"/>
              </a:rPr>
              <a:t>成分</a:t>
            </a:r>
            <a:r>
              <a:rPr lang="en-US" altLang="ja-JP" sz="3600" b="0" i="0" u="none" strike="noStrike" cap="none" dirty="0">
                <a:solidFill>
                  <a:srgbClr val="334155"/>
                </a:solidFill>
                <a:latin typeface="Noto Sans JP"/>
                <a:ea typeface="Noto Sans JP"/>
                <a:cs typeface="Noto Sans JP"/>
                <a:sym typeface="Noto Sans JP"/>
              </a:rPr>
              <a:t>,</a:t>
            </a:r>
            <a:r>
              <a:rPr lang="ja-JP" altLang="en-US" sz="3600" dirty="0">
                <a:solidFill>
                  <a:srgbClr val="334155"/>
                </a:solidFill>
                <a:latin typeface="Noto Sans JP"/>
                <a:ea typeface="Noto Sans JP"/>
                <a:cs typeface="Noto Sans JP"/>
                <a:sym typeface="Noto Sans JP"/>
              </a:rPr>
              <a:t> </a:t>
            </a:r>
            <a:r>
              <a:rPr lang="en-US" altLang="ja-JP" sz="3600" dirty="0">
                <a:solidFill>
                  <a:srgbClr val="334155"/>
                </a:solidFill>
                <a:latin typeface="Noto Sans JP"/>
                <a:ea typeface="Noto Sans JP"/>
                <a:cs typeface="Noto Sans JP"/>
                <a:sym typeface="Noto Sans JP"/>
              </a:rPr>
              <a:t>Y</a:t>
            </a:r>
            <a:r>
              <a:rPr lang="ja-JP" altLang="en-US" sz="3600" dirty="0">
                <a:solidFill>
                  <a:srgbClr val="334155"/>
                </a:solidFill>
                <a:latin typeface="Noto Sans JP"/>
                <a:ea typeface="Noto Sans JP"/>
                <a:cs typeface="Noto Sans JP"/>
                <a:sym typeface="Noto Sans JP"/>
              </a:rPr>
              <a:t>成分</a:t>
            </a:r>
            <a:r>
              <a:rPr lang="en-US" altLang="ja-JP" sz="3600" b="0" i="0" u="none" strike="noStrike" cap="none" dirty="0">
                <a:solidFill>
                  <a:srgbClr val="334155"/>
                </a:solidFill>
                <a:latin typeface="Noto Sans JP"/>
                <a:ea typeface="Noto Sans JP"/>
                <a:cs typeface="Noto Sans JP"/>
                <a:sym typeface="Noto Sans JP"/>
              </a:rPr>
              <a:t>)</a:t>
            </a:r>
            <a:endParaRPr sz="3200" dirty="0"/>
          </a:p>
        </p:txBody>
      </p:sp>
      <p:sp>
        <p:nvSpPr>
          <p:cNvPr id="4" name="Google Shape;101;p15">
            <a:extLst>
              <a:ext uri="{FF2B5EF4-FFF2-40B4-BE49-F238E27FC236}">
                <a16:creationId xmlns:a16="http://schemas.microsoft.com/office/drawing/2014/main" id="{226F40CD-5269-B92C-128A-BD0062E26385}"/>
              </a:ext>
            </a:extLst>
          </p:cNvPr>
          <p:cNvSpPr txBox="1"/>
          <p:nvPr/>
        </p:nvSpPr>
        <p:spPr>
          <a:xfrm>
            <a:off x="6372225" y="4424006"/>
            <a:ext cx="948365" cy="3447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1600" b="1" dirty="0"/>
              <a:t>それぞれ</a:t>
            </a:r>
            <a:endParaRPr sz="1600" b="1" dirty="0"/>
          </a:p>
        </p:txBody>
      </p:sp>
      <p:sp>
        <p:nvSpPr>
          <p:cNvPr id="5" name="Google Shape;101;p15">
            <a:extLst>
              <a:ext uri="{FF2B5EF4-FFF2-40B4-BE49-F238E27FC236}">
                <a16:creationId xmlns:a16="http://schemas.microsoft.com/office/drawing/2014/main" id="{3BFB5F4A-F09C-9A53-D49C-5399E102B62A}"/>
              </a:ext>
            </a:extLst>
          </p:cNvPr>
          <p:cNvSpPr txBox="1"/>
          <p:nvPr/>
        </p:nvSpPr>
        <p:spPr>
          <a:xfrm>
            <a:off x="11341174" y="6116054"/>
            <a:ext cx="730102" cy="3447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1600" b="1" dirty="0"/>
              <a:t>と呼ぶ。</a:t>
            </a:r>
            <a:endParaRPr sz="16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2ED81852-EEAA-7A6C-B5F5-DAB01CE59937}"/>
            </a:ext>
          </a:extLst>
        </p:cNvPr>
        <p:cNvGrpSpPr/>
        <p:nvPr/>
      </p:nvGrpSpPr>
      <p:grpSpPr>
        <a:xfrm>
          <a:off x="0" y="0"/>
          <a:ext cx="0" cy="0"/>
          <a:chOff x="0" y="0"/>
          <a:chExt cx="0" cy="0"/>
        </a:xfrm>
      </p:grpSpPr>
      <p:sp>
        <p:nvSpPr>
          <p:cNvPr id="157" name="Google Shape;157;p20">
            <a:extLst>
              <a:ext uri="{FF2B5EF4-FFF2-40B4-BE49-F238E27FC236}">
                <a16:creationId xmlns:a16="http://schemas.microsoft.com/office/drawing/2014/main" id="{C2C7C9C4-C695-4031-4A98-8BEE964BC47C}"/>
              </a:ext>
            </a:extLst>
          </p:cNvPr>
          <p:cNvSpPr txBox="1"/>
          <p:nvPr/>
        </p:nvSpPr>
        <p:spPr>
          <a:xfrm>
            <a:off x="3995737" y="2751891"/>
            <a:ext cx="4200525" cy="135421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ja-JP" altLang="en-US" sz="8800" b="1" i="0" u="none" strike="noStrike" cap="none" dirty="0">
                <a:solidFill>
                  <a:srgbClr val="005088"/>
                </a:solidFill>
                <a:latin typeface="Noto Sans JP"/>
                <a:ea typeface="Noto Sans JP"/>
                <a:cs typeface="Noto Sans JP"/>
                <a:sym typeface="Noto Sans JP"/>
              </a:rPr>
              <a:t>中点</a:t>
            </a:r>
            <a:endParaRPr sz="3200" dirty="0"/>
          </a:p>
        </p:txBody>
      </p:sp>
    </p:spTree>
    <p:extLst>
      <p:ext uri="{BB962C8B-B14F-4D97-AF65-F5344CB8AC3E}">
        <p14:creationId xmlns:p14="http://schemas.microsoft.com/office/powerpoint/2010/main" val="1628376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3" name="Google Shape;123;p17"/>
          <p:cNvSpPr txBox="1"/>
          <p:nvPr/>
        </p:nvSpPr>
        <p:spPr>
          <a:xfrm>
            <a:off x="762000" y="4004844"/>
            <a:ext cx="5334000"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dirty="0">
                <a:solidFill>
                  <a:srgbClr val="334155"/>
                </a:solidFill>
                <a:latin typeface="Noto Sans JP"/>
                <a:ea typeface="Noto Sans JP"/>
                <a:cs typeface="Noto Sans JP"/>
                <a:sym typeface="Noto Sans JP"/>
              </a:rPr>
              <a:t>ゲームで物体を表現する際、頂点同士を繋いで描画します。その</a:t>
            </a:r>
            <a:r>
              <a:rPr lang="en-US" sz="2000" b="1" i="0" u="none" strike="noStrike" cap="none" dirty="0">
                <a:solidFill>
                  <a:srgbClr val="005088"/>
                </a:solidFill>
                <a:latin typeface="Noto Sans JP"/>
                <a:ea typeface="Noto Sans JP"/>
                <a:cs typeface="Noto Sans JP"/>
                <a:sym typeface="Noto Sans JP"/>
              </a:rPr>
              <a:t>中心位置</a:t>
            </a:r>
            <a:r>
              <a:rPr lang="en-US" sz="2000" b="0" i="0" u="none" strike="noStrike" cap="none" dirty="0">
                <a:solidFill>
                  <a:srgbClr val="334155"/>
                </a:solidFill>
                <a:latin typeface="Noto Sans JP"/>
                <a:ea typeface="Noto Sans JP"/>
                <a:cs typeface="Noto Sans JP"/>
                <a:sym typeface="Noto Sans JP"/>
              </a:rPr>
              <a:t>が分からなければ正しく動</a:t>
            </a:r>
            <a:r>
              <a:rPr lang="ja-JP" altLang="en-US" sz="2000" b="0" i="0" u="none" strike="noStrike" cap="none" dirty="0">
                <a:solidFill>
                  <a:srgbClr val="334155"/>
                </a:solidFill>
                <a:latin typeface="Noto Sans JP"/>
                <a:ea typeface="Noto Sans JP"/>
                <a:cs typeface="Noto Sans JP"/>
                <a:sym typeface="Noto Sans JP"/>
              </a:rPr>
              <a:t>き</a:t>
            </a:r>
            <a:r>
              <a:rPr lang="en-US" sz="2000" b="0" i="0" u="none" strike="noStrike" cap="none" dirty="0">
                <a:solidFill>
                  <a:srgbClr val="334155"/>
                </a:solidFill>
                <a:latin typeface="Noto Sans JP"/>
                <a:ea typeface="Noto Sans JP"/>
                <a:cs typeface="Noto Sans JP"/>
                <a:sym typeface="Noto Sans JP"/>
              </a:rPr>
              <a:t>ません。</a:t>
            </a:r>
            <a:endParaRPr sz="1800" dirty="0"/>
          </a:p>
        </p:txBody>
      </p:sp>
      <p:sp>
        <p:nvSpPr>
          <p:cNvPr id="124" name="Google Shape;124;p17"/>
          <p:cNvSpPr txBox="1"/>
          <p:nvPr/>
        </p:nvSpPr>
        <p:spPr>
          <a:xfrm>
            <a:off x="762000" y="5450211"/>
            <a:ext cx="5334000"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dirty="0">
                <a:solidFill>
                  <a:srgbClr val="334155"/>
                </a:solidFill>
                <a:latin typeface="Noto Sans JP"/>
                <a:ea typeface="Noto Sans JP"/>
                <a:cs typeface="Noto Sans JP"/>
                <a:sym typeface="Noto Sans JP"/>
              </a:rPr>
              <a:t>一般的なゲームでは、</a:t>
            </a:r>
          </a:p>
          <a:p>
            <a:pPr marL="0" marR="0" lvl="0" indent="0" algn="l" rtl="0">
              <a:lnSpc>
                <a:spcPct val="140000"/>
              </a:lnSpc>
              <a:spcBef>
                <a:spcPts val="0"/>
              </a:spcBef>
              <a:spcAft>
                <a:spcPts val="0"/>
              </a:spcAft>
              <a:buNone/>
            </a:pPr>
            <a:r>
              <a:rPr lang="en-US" sz="1800" b="0" i="0" u="none" strike="noStrike" cap="none" dirty="0">
                <a:solidFill>
                  <a:srgbClr val="334155"/>
                </a:solidFill>
                <a:latin typeface="Noto Sans JP"/>
                <a:ea typeface="Noto Sans JP"/>
                <a:cs typeface="Noto Sans JP"/>
                <a:sym typeface="Noto Sans JP"/>
              </a:rPr>
              <a:t>毎秒50回〜100回以上この計算が行われています。</a:t>
            </a:r>
            <a:endParaRPr sz="1600" dirty="0"/>
          </a:p>
        </p:txBody>
      </p:sp>
      <p:sp>
        <p:nvSpPr>
          <p:cNvPr id="126" name="Google Shape;126;p17"/>
          <p:cNvSpPr txBox="1"/>
          <p:nvPr/>
        </p:nvSpPr>
        <p:spPr>
          <a:xfrm>
            <a:off x="762000" y="3303434"/>
            <a:ext cx="4282966"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dirty="0">
                <a:solidFill>
                  <a:srgbClr val="0F172A"/>
                </a:solidFill>
                <a:latin typeface="Noto Sans JP"/>
                <a:ea typeface="Noto Sans JP"/>
                <a:cs typeface="Noto Sans JP"/>
                <a:sym typeface="Noto Sans JP"/>
              </a:rPr>
              <a:t>なぜ中点が必要なのか？</a:t>
            </a:r>
            <a:endParaRPr sz="1200" dirty="0"/>
          </a:p>
        </p:txBody>
      </p:sp>
      <p:pic>
        <p:nvPicPr>
          <p:cNvPr id="3" name="図 2">
            <a:extLst>
              <a:ext uri="{FF2B5EF4-FFF2-40B4-BE49-F238E27FC236}">
                <a16:creationId xmlns:a16="http://schemas.microsoft.com/office/drawing/2014/main" id="{F7D61D88-24BF-1A43-9750-7A4532B9CCF5}"/>
              </a:ext>
            </a:extLst>
          </p:cNvPr>
          <p:cNvPicPr>
            <a:picLocks noChangeAspect="1"/>
          </p:cNvPicPr>
          <p:nvPr/>
        </p:nvPicPr>
        <p:blipFill>
          <a:blip r:embed="rId3"/>
          <a:stretch>
            <a:fillRect/>
          </a:stretch>
        </p:blipFill>
        <p:spPr>
          <a:xfrm>
            <a:off x="6401128" y="3912840"/>
            <a:ext cx="5591175" cy="2743200"/>
          </a:xfrm>
          <a:prstGeom prst="rect">
            <a:avLst/>
          </a:prstGeom>
        </p:spPr>
      </p:pic>
      <p:sp>
        <p:nvSpPr>
          <p:cNvPr id="4" name="Google Shape;126;p17">
            <a:extLst>
              <a:ext uri="{FF2B5EF4-FFF2-40B4-BE49-F238E27FC236}">
                <a16:creationId xmlns:a16="http://schemas.microsoft.com/office/drawing/2014/main" id="{844F0CBD-7CD7-DC43-73F4-77F74D7C53D0}"/>
              </a:ext>
            </a:extLst>
          </p:cNvPr>
          <p:cNvSpPr txBox="1"/>
          <p:nvPr/>
        </p:nvSpPr>
        <p:spPr>
          <a:xfrm>
            <a:off x="762000" y="478185"/>
            <a:ext cx="190237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i="0" u="none" strike="noStrike" cap="none" dirty="0">
                <a:solidFill>
                  <a:srgbClr val="0F172A"/>
                </a:solidFill>
                <a:latin typeface="Noto Sans JP"/>
                <a:ea typeface="Noto Sans JP"/>
                <a:cs typeface="Noto Sans JP"/>
                <a:sym typeface="Noto Sans JP"/>
              </a:rPr>
              <a:t>中点</a:t>
            </a:r>
            <a:endParaRPr sz="2000" dirty="0"/>
          </a:p>
        </p:txBody>
      </p:sp>
      <p:sp>
        <p:nvSpPr>
          <p:cNvPr id="7" name="Google Shape;123;p17">
            <a:extLst>
              <a:ext uri="{FF2B5EF4-FFF2-40B4-BE49-F238E27FC236}">
                <a16:creationId xmlns:a16="http://schemas.microsoft.com/office/drawing/2014/main" id="{0477D0EF-000A-2726-B529-57A70592500E}"/>
              </a:ext>
            </a:extLst>
          </p:cNvPr>
          <p:cNvSpPr txBox="1"/>
          <p:nvPr/>
        </p:nvSpPr>
        <p:spPr>
          <a:xfrm>
            <a:off x="762000" y="1407789"/>
            <a:ext cx="5334000"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2800" b="0" i="0" u="none" strike="noStrike" cap="none" dirty="0">
                <a:solidFill>
                  <a:srgbClr val="334155"/>
                </a:solidFill>
                <a:latin typeface="Noto Sans JP"/>
                <a:ea typeface="Noto Sans JP"/>
                <a:cs typeface="Noto Sans JP"/>
                <a:sym typeface="Noto Sans JP"/>
              </a:rPr>
              <a:t>複数の点が存在する際に、</a:t>
            </a:r>
            <a:endParaRPr lang="en-US" altLang="ja-JP" sz="2800" b="0" i="0" u="none" strike="noStrike" cap="none" dirty="0">
              <a:solidFill>
                <a:srgbClr val="334155"/>
              </a:solidFill>
              <a:latin typeface="Noto Sans JP"/>
              <a:ea typeface="Noto Sans JP"/>
              <a:cs typeface="Noto Sans JP"/>
              <a:sym typeface="Noto Sans JP"/>
            </a:endParaRPr>
          </a:p>
          <a:p>
            <a:pPr marL="0" marR="0" lvl="0" indent="0" algn="l" rtl="0">
              <a:lnSpc>
                <a:spcPct val="140000"/>
              </a:lnSpc>
              <a:spcBef>
                <a:spcPts val="0"/>
              </a:spcBef>
              <a:spcAft>
                <a:spcPts val="0"/>
              </a:spcAft>
              <a:buNone/>
            </a:pPr>
            <a:r>
              <a:rPr lang="ja-JP" altLang="en-US" sz="2800" b="0" i="0" u="none" strike="noStrike" cap="none" dirty="0">
                <a:solidFill>
                  <a:srgbClr val="334155"/>
                </a:solidFill>
                <a:latin typeface="Noto Sans JP"/>
                <a:ea typeface="Noto Sans JP"/>
                <a:cs typeface="Noto Sans JP"/>
                <a:sym typeface="Noto Sans JP"/>
              </a:rPr>
              <a:t>その中心の点を中点と言います。</a:t>
            </a:r>
            <a:endParaRPr sz="2400" dirty="0"/>
          </a:p>
        </p:txBody>
      </p:sp>
      <p:pic>
        <p:nvPicPr>
          <p:cNvPr id="13" name="図 12">
            <a:extLst>
              <a:ext uri="{FF2B5EF4-FFF2-40B4-BE49-F238E27FC236}">
                <a16:creationId xmlns:a16="http://schemas.microsoft.com/office/drawing/2014/main" id="{20DDACBF-0F5E-6E01-5C6B-D1C3E227FA52}"/>
              </a:ext>
            </a:extLst>
          </p:cNvPr>
          <p:cNvPicPr>
            <a:picLocks noChangeAspect="1"/>
          </p:cNvPicPr>
          <p:nvPr/>
        </p:nvPicPr>
        <p:blipFill>
          <a:blip r:embed="rId4"/>
          <a:stretch>
            <a:fillRect/>
          </a:stretch>
        </p:blipFill>
        <p:spPr>
          <a:xfrm>
            <a:off x="7147036" y="0"/>
            <a:ext cx="4086795" cy="37343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
        <p:cNvGrpSpPr/>
        <p:nvPr/>
      </p:nvGrpSpPr>
      <p:grpSpPr>
        <a:xfrm>
          <a:off x="0" y="0"/>
          <a:ext cx="0" cy="0"/>
          <a:chOff x="0" y="0"/>
          <a:chExt cx="0" cy="0"/>
        </a:xfrm>
      </p:grpSpPr>
      <p:pic>
        <p:nvPicPr>
          <p:cNvPr id="133" name="Google Shape;133;p18" descr="image.png"/>
          <p:cNvPicPr preferRelativeResize="0"/>
          <p:nvPr/>
        </p:nvPicPr>
        <p:blipFill rotWithShape="1">
          <a:blip r:embed="rId3">
            <a:alphaModFix/>
          </a:blip>
          <a:srcRect/>
          <a:stretch/>
        </p:blipFill>
        <p:spPr>
          <a:xfrm>
            <a:off x="393159" y="3044408"/>
            <a:ext cx="6047365" cy="1066894"/>
          </a:xfrm>
          <a:prstGeom prst="rect">
            <a:avLst/>
          </a:prstGeom>
          <a:noFill/>
          <a:ln>
            <a:noFill/>
          </a:ln>
        </p:spPr>
      </p:pic>
      <p:sp>
        <p:nvSpPr>
          <p:cNvPr id="134" name="Google Shape;134;p18"/>
          <p:cNvSpPr txBox="1"/>
          <p:nvPr/>
        </p:nvSpPr>
        <p:spPr>
          <a:xfrm>
            <a:off x="928183" y="1673673"/>
            <a:ext cx="5334000"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dirty="0">
                <a:solidFill>
                  <a:srgbClr val="334155"/>
                </a:solidFill>
                <a:latin typeface="Noto Sans JP"/>
                <a:ea typeface="Noto Sans JP"/>
                <a:cs typeface="Noto Sans JP"/>
                <a:sym typeface="Noto Sans JP"/>
              </a:rPr>
              <a:t>真ん中の点を出すには、</a:t>
            </a:r>
          </a:p>
          <a:p>
            <a:pPr marL="0" marR="0" lvl="0" indent="0" algn="l" rtl="0">
              <a:lnSpc>
                <a:spcPct val="140000"/>
              </a:lnSpc>
              <a:spcBef>
                <a:spcPts val="0"/>
              </a:spcBef>
              <a:spcAft>
                <a:spcPts val="0"/>
              </a:spcAft>
              <a:buNone/>
            </a:pPr>
            <a:r>
              <a:rPr lang="en-US" sz="2800" b="0" i="0" u="none" strike="noStrike" cap="none" dirty="0">
                <a:solidFill>
                  <a:srgbClr val="334155"/>
                </a:solidFill>
                <a:latin typeface="Noto Sans JP"/>
                <a:ea typeface="Noto Sans JP"/>
                <a:cs typeface="Noto Sans JP"/>
                <a:sym typeface="Noto Sans JP"/>
              </a:rPr>
              <a:t>各成分を足して</a:t>
            </a:r>
            <a:r>
              <a:rPr lang="en-US" sz="2800" b="1" i="0" u="none" strike="noStrike" cap="none" dirty="0">
                <a:solidFill>
                  <a:srgbClr val="005088"/>
                </a:solidFill>
                <a:latin typeface="Noto Sans JP"/>
                <a:ea typeface="Noto Sans JP"/>
                <a:cs typeface="Noto Sans JP"/>
                <a:sym typeface="Noto Sans JP"/>
              </a:rPr>
              <a:t>2で割ります</a:t>
            </a:r>
            <a:r>
              <a:rPr lang="en-US" sz="2800" b="0" i="0" u="none" strike="noStrike" cap="none" dirty="0">
                <a:solidFill>
                  <a:srgbClr val="334155"/>
                </a:solidFill>
                <a:latin typeface="Noto Sans JP"/>
                <a:ea typeface="Noto Sans JP"/>
                <a:cs typeface="Noto Sans JP"/>
                <a:sym typeface="Noto Sans JP"/>
              </a:rPr>
              <a:t>。</a:t>
            </a:r>
            <a:endParaRPr sz="2000" dirty="0"/>
          </a:p>
        </p:txBody>
      </p:sp>
      <p:pic>
        <p:nvPicPr>
          <p:cNvPr id="136" name="Google Shape;136;p18" descr="image.png"/>
          <p:cNvPicPr preferRelativeResize="0"/>
          <p:nvPr/>
        </p:nvPicPr>
        <p:blipFill rotWithShape="1">
          <a:blip r:embed="rId4">
            <a:alphaModFix/>
          </a:blip>
          <a:srcRect/>
          <a:stretch/>
        </p:blipFill>
        <p:spPr>
          <a:xfrm>
            <a:off x="774029" y="3139088"/>
            <a:ext cx="5488154" cy="877535"/>
          </a:xfrm>
          <a:prstGeom prst="rect">
            <a:avLst/>
          </a:prstGeom>
          <a:noFill/>
          <a:ln>
            <a:noFill/>
          </a:ln>
        </p:spPr>
      </p:pic>
      <p:sp>
        <p:nvSpPr>
          <p:cNvPr id="137" name="Google Shape;137;p18"/>
          <p:cNvSpPr txBox="1"/>
          <p:nvPr/>
        </p:nvSpPr>
        <p:spPr>
          <a:xfrm>
            <a:off x="550628" y="584314"/>
            <a:ext cx="11601450"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i="0" u="none" strike="noStrike" cap="none" dirty="0">
                <a:solidFill>
                  <a:srgbClr val="0F172A"/>
                </a:solidFill>
                <a:latin typeface="Noto Sans JP"/>
                <a:ea typeface="Noto Sans JP"/>
                <a:cs typeface="Noto Sans JP"/>
                <a:sym typeface="Noto Sans JP"/>
              </a:rPr>
              <a:t>2点間の中点の計算</a:t>
            </a:r>
            <a:endParaRPr sz="2000" dirty="0"/>
          </a:p>
        </p:txBody>
      </p:sp>
      <p:pic>
        <p:nvPicPr>
          <p:cNvPr id="4" name="図 3">
            <a:extLst>
              <a:ext uri="{FF2B5EF4-FFF2-40B4-BE49-F238E27FC236}">
                <a16:creationId xmlns:a16="http://schemas.microsoft.com/office/drawing/2014/main" id="{DA6320E3-20DF-5B2A-582A-544907272A16}"/>
              </a:ext>
            </a:extLst>
          </p:cNvPr>
          <p:cNvPicPr>
            <a:picLocks noChangeAspect="1"/>
          </p:cNvPicPr>
          <p:nvPr/>
        </p:nvPicPr>
        <p:blipFill>
          <a:blip r:embed="rId5"/>
          <a:stretch>
            <a:fillRect/>
          </a:stretch>
        </p:blipFill>
        <p:spPr>
          <a:xfrm>
            <a:off x="6618865" y="987056"/>
            <a:ext cx="5353050" cy="5181600"/>
          </a:xfrm>
          <a:prstGeom prst="rect">
            <a:avLst/>
          </a:prstGeom>
        </p:spPr>
      </p:pic>
      <p:sp>
        <p:nvSpPr>
          <p:cNvPr id="5" name="Google Shape;123;p17">
            <a:extLst>
              <a:ext uri="{FF2B5EF4-FFF2-40B4-BE49-F238E27FC236}">
                <a16:creationId xmlns:a16="http://schemas.microsoft.com/office/drawing/2014/main" id="{C8FCFE60-7C29-F990-6B87-B0B1370A1463}"/>
              </a:ext>
            </a:extLst>
          </p:cNvPr>
          <p:cNvSpPr txBox="1"/>
          <p:nvPr/>
        </p:nvSpPr>
        <p:spPr>
          <a:xfrm>
            <a:off x="839012" y="4981024"/>
            <a:ext cx="5512341"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2000" b="0" i="0" u="none" strike="noStrike" cap="none" dirty="0">
                <a:solidFill>
                  <a:srgbClr val="334155"/>
                </a:solidFill>
                <a:latin typeface="Noto Sans JP"/>
                <a:ea typeface="Noto Sans JP"/>
                <a:cs typeface="Noto Sans JP"/>
                <a:sym typeface="Noto Sans JP"/>
              </a:rPr>
              <a:t>右の図だったら</a:t>
            </a:r>
            <a:r>
              <a:rPr lang="en-US" altLang="ja-JP" sz="2000" b="0" i="0" u="none" strike="noStrike" cap="none" dirty="0">
                <a:solidFill>
                  <a:srgbClr val="334155"/>
                </a:solidFill>
                <a:latin typeface="Noto Sans JP"/>
                <a:ea typeface="Noto Sans JP"/>
                <a:cs typeface="Noto Sans JP"/>
                <a:sym typeface="Noto Sans JP"/>
              </a:rPr>
              <a:t>A</a:t>
            </a:r>
            <a:r>
              <a:rPr lang="ja-JP" altLang="en-US" sz="2000" b="0" i="0" u="none" strike="noStrike" cap="none" dirty="0">
                <a:solidFill>
                  <a:srgbClr val="334155"/>
                </a:solidFill>
                <a:latin typeface="Noto Sans JP"/>
                <a:ea typeface="Noto Sans JP"/>
                <a:cs typeface="Noto Sans JP"/>
                <a:sym typeface="Noto Sans JP"/>
              </a:rPr>
              <a:t>と</a:t>
            </a:r>
            <a:r>
              <a:rPr lang="en-US" altLang="ja-JP" sz="2000" b="0" i="0" u="none" strike="noStrike" cap="none" dirty="0">
                <a:solidFill>
                  <a:srgbClr val="334155"/>
                </a:solidFill>
                <a:latin typeface="Noto Sans JP"/>
                <a:ea typeface="Noto Sans JP"/>
                <a:cs typeface="Noto Sans JP"/>
                <a:sym typeface="Noto Sans JP"/>
              </a:rPr>
              <a:t>B</a:t>
            </a:r>
            <a:r>
              <a:rPr lang="ja-JP" altLang="en-US" sz="2000" b="0" i="0" u="none" strike="noStrike" cap="none" dirty="0">
                <a:solidFill>
                  <a:srgbClr val="334155"/>
                </a:solidFill>
                <a:latin typeface="Noto Sans JP"/>
                <a:ea typeface="Noto Sans JP"/>
                <a:cs typeface="Noto Sans JP"/>
                <a:sym typeface="Noto Sans JP"/>
              </a:rPr>
              <a:t>の中点は、</a:t>
            </a:r>
            <a:endParaRPr lang="en-US" altLang="ja-JP" sz="2000" b="0" i="0" u="none" strike="noStrike" cap="none" dirty="0">
              <a:solidFill>
                <a:srgbClr val="334155"/>
              </a:solidFill>
              <a:latin typeface="Noto Sans JP"/>
              <a:ea typeface="Noto Sans JP"/>
              <a:cs typeface="Noto Sans JP"/>
              <a:sym typeface="Noto Sans JP"/>
            </a:endParaRPr>
          </a:p>
          <a:p>
            <a:pPr marL="0" marR="0" lvl="0" indent="0" algn="l" rtl="0">
              <a:lnSpc>
                <a:spcPct val="140000"/>
              </a:lnSpc>
              <a:spcBef>
                <a:spcPts val="0"/>
              </a:spcBef>
              <a:spcAft>
                <a:spcPts val="0"/>
              </a:spcAft>
              <a:buNone/>
            </a:pPr>
            <a:r>
              <a:rPr lang="ja-JP" altLang="en-US" sz="4000" b="0" i="0" u="none" strike="noStrike" cap="none" dirty="0">
                <a:solidFill>
                  <a:srgbClr val="334155"/>
                </a:solidFill>
                <a:latin typeface="Noto Sans JP"/>
                <a:ea typeface="Noto Sans JP"/>
                <a:cs typeface="Noto Sans JP"/>
                <a:sym typeface="Noto Sans JP"/>
              </a:rPr>
              <a:t>　　　　　　</a:t>
            </a:r>
            <a:r>
              <a:rPr lang="en-US" altLang="ja-JP" sz="4000" b="0" i="0" u="none" strike="noStrike" cap="none" dirty="0">
                <a:solidFill>
                  <a:srgbClr val="334155"/>
                </a:solidFill>
                <a:latin typeface="Noto Sans JP"/>
                <a:ea typeface="Noto Sans JP"/>
                <a:cs typeface="Noto Sans JP"/>
                <a:sym typeface="Noto Sans JP"/>
              </a:rPr>
              <a:t>(3/2,-1/2)</a:t>
            </a:r>
            <a:endParaRPr lang="ja-JP" alt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1"/>
        <p:cNvGrpSpPr/>
        <p:nvPr/>
      </p:nvGrpSpPr>
      <p:grpSpPr>
        <a:xfrm>
          <a:off x="0" y="0"/>
          <a:ext cx="0" cy="0"/>
          <a:chOff x="0" y="0"/>
          <a:chExt cx="0" cy="0"/>
        </a:xfrm>
      </p:grpSpPr>
      <p:pic>
        <p:nvPicPr>
          <p:cNvPr id="143" name="Google Shape;143;p19" descr="image.png"/>
          <p:cNvPicPr preferRelativeResize="0"/>
          <p:nvPr/>
        </p:nvPicPr>
        <p:blipFill rotWithShape="1">
          <a:blip r:embed="rId3">
            <a:alphaModFix/>
          </a:blip>
          <a:srcRect/>
          <a:stretch/>
        </p:blipFill>
        <p:spPr>
          <a:xfrm>
            <a:off x="645928" y="2928937"/>
            <a:ext cx="5334000" cy="1000125"/>
          </a:xfrm>
          <a:prstGeom prst="rect">
            <a:avLst/>
          </a:prstGeom>
          <a:noFill/>
          <a:ln>
            <a:noFill/>
          </a:ln>
        </p:spPr>
      </p:pic>
      <p:sp>
        <p:nvSpPr>
          <p:cNvPr id="146" name="Google Shape;146;p19"/>
          <p:cNvSpPr txBox="1"/>
          <p:nvPr/>
        </p:nvSpPr>
        <p:spPr>
          <a:xfrm>
            <a:off x="571500" y="1766229"/>
            <a:ext cx="5334000" cy="861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dirty="0">
                <a:solidFill>
                  <a:srgbClr val="334155"/>
                </a:solidFill>
                <a:latin typeface="Noto Sans JP"/>
                <a:ea typeface="Noto Sans JP"/>
                <a:cs typeface="Noto Sans JP"/>
                <a:sym typeface="Noto Sans JP"/>
              </a:rPr>
              <a:t>点が増えても考え方は同じです。</a:t>
            </a:r>
          </a:p>
          <a:p>
            <a:pPr marL="0" marR="0" lvl="0" indent="0" algn="l" rtl="0">
              <a:lnSpc>
                <a:spcPct val="140000"/>
              </a:lnSpc>
              <a:spcBef>
                <a:spcPts val="0"/>
              </a:spcBef>
              <a:spcAft>
                <a:spcPts val="0"/>
              </a:spcAft>
              <a:buNone/>
            </a:pPr>
            <a:r>
              <a:rPr lang="en-US" sz="2000" b="0" i="0" u="none" strike="noStrike" cap="none" dirty="0">
                <a:solidFill>
                  <a:srgbClr val="334155"/>
                </a:solidFill>
                <a:latin typeface="Noto Sans JP"/>
                <a:ea typeface="Noto Sans JP"/>
                <a:cs typeface="Noto Sans JP"/>
                <a:sym typeface="Noto Sans JP"/>
              </a:rPr>
              <a:t>全ての座標を足して、</a:t>
            </a:r>
            <a:r>
              <a:rPr lang="en-US" sz="2000" b="1" i="0" u="none" strike="noStrike" cap="none" dirty="0">
                <a:solidFill>
                  <a:srgbClr val="005088"/>
                </a:solidFill>
                <a:latin typeface="Noto Sans JP"/>
                <a:ea typeface="Noto Sans JP"/>
                <a:cs typeface="Noto Sans JP"/>
                <a:sym typeface="Noto Sans JP"/>
              </a:rPr>
              <a:t>点の数で割る</a:t>
            </a:r>
            <a:r>
              <a:rPr lang="en-US" sz="2000" b="0" i="0" u="none" strike="noStrike" cap="none" dirty="0">
                <a:solidFill>
                  <a:srgbClr val="334155"/>
                </a:solidFill>
                <a:latin typeface="Noto Sans JP"/>
                <a:ea typeface="Noto Sans JP"/>
                <a:cs typeface="Noto Sans JP"/>
                <a:sym typeface="Noto Sans JP"/>
              </a:rPr>
              <a:t>だけです。</a:t>
            </a:r>
            <a:endParaRPr sz="1800" dirty="0"/>
          </a:p>
        </p:txBody>
      </p:sp>
      <p:pic>
        <p:nvPicPr>
          <p:cNvPr id="147" name="Google Shape;147;p19" descr="image.png"/>
          <p:cNvPicPr preferRelativeResize="0"/>
          <p:nvPr/>
        </p:nvPicPr>
        <p:blipFill rotWithShape="1">
          <a:blip r:embed="rId4">
            <a:alphaModFix/>
          </a:blip>
          <a:srcRect/>
          <a:stretch/>
        </p:blipFill>
        <p:spPr>
          <a:xfrm>
            <a:off x="1931626" y="3119436"/>
            <a:ext cx="2464891" cy="619125"/>
          </a:xfrm>
          <a:prstGeom prst="rect">
            <a:avLst/>
          </a:prstGeom>
          <a:noFill/>
          <a:ln>
            <a:noFill/>
          </a:ln>
        </p:spPr>
      </p:pic>
      <p:sp>
        <p:nvSpPr>
          <p:cNvPr id="150" name="Google Shape;150;p19"/>
          <p:cNvSpPr txBox="1"/>
          <p:nvPr/>
        </p:nvSpPr>
        <p:spPr>
          <a:xfrm>
            <a:off x="485775" y="543877"/>
            <a:ext cx="11601450"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400" b="1" i="0" u="none" strike="noStrike" cap="none" dirty="0">
                <a:solidFill>
                  <a:srgbClr val="0F172A"/>
                </a:solidFill>
                <a:latin typeface="Noto Sans JP"/>
                <a:ea typeface="Noto Sans JP"/>
                <a:cs typeface="Noto Sans JP"/>
                <a:sym typeface="Noto Sans JP"/>
              </a:rPr>
              <a:t>3点・n点間の中点</a:t>
            </a:r>
            <a:endParaRPr sz="2400"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2AD04D09-846B-89EC-F88F-5939D44B03BC}"/>
                  </a:ext>
                </a:extLst>
              </p:cNvPr>
              <p:cNvSpPr txBox="1"/>
              <p:nvPr/>
            </p:nvSpPr>
            <p:spPr>
              <a:xfrm>
                <a:off x="1632981" y="4630479"/>
                <a:ext cx="3359894" cy="11522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ja-JP" altLang="en-US" sz="3600" i="1" smtClean="0">
                              <a:latin typeface="Cambria Math" panose="02040503050406030204" pitchFamily="18" charset="0"/>
                            </a:rPr>
                          </m:ctrlPr>
                        </m:fPr>
                        <m:num>
                          <m:r>
                            <a:rPr kumimoji="1" lang="ja-JP" altLang="en-US" sz="3600" i="1" smtClean="0">
                              <a:latin typeface="Cambria Math" panose="02040503050406030204" pitchFamily="18" charset="0"/>
                            </a:rPr>
                            <m:t>点の</m:t>
                          </m:r>
                          <m:r>
                            <a:rPr kumimoji="1" lang="ja-JP" altLang="en-US" sz="3600" i="1">
                              <a:latin typeface="Cambria Math" panose="02040503050406030204" pitchFamily="18" charset="0"/>
                            </a:rPr>
                            <m:t>座標</m:t>
                          </m:r>
                          <m:r>
                            <a:rPr kumimoji="1" lang="ja-JP" altLang="en-US" sz="3600" i="1" smtClean="0">
                              <a:latin typeface="Cambria Math" panose="02040503050406030204" pitchFamily="18" charset="0"/>
                            </a:rPr>
                            <m:t>の</m:t>
                          </m:r>
                          <m:r>
                            <a:rPr kumimoji="1" lang="ja-JP" altLang="en-US" sz="3600" i="1">
                              <a:latin typeface="Cambria Math" panose="02040503050406030204" pitchFamily="18" charset="0"/>
                            </a:rPr>
                            <m:t>合計</m:t>
                          </m:r>
                        </m:num>
                        <m:den>
                          <m:r>
                            <a:rPr kumimoji="1" lang="ja-JP" altLang="en-US" sz="3600" i="1" smtClean="0">
                              <a:latin typeface="Cambria Math" panose="02040503050406030204" pitchFamily="18" charset="0"/>
                            </a:rPr>
                            <m:t>点</m:t>
                          </m:r>
                          <m:r>
                            <a:rPr kumimoji="1" lang="ja-JP" altLang="en-US" sz="3600" i="1">
                              <a:latin typeface="Cambria Math" panose="02040503050406030204" pitchFamily="18" charset="0"/>
                            </a:rPr>
                            <m:t>の</m:t>
                          </m:r>
                          <m:r>
                            <a:rPr kumimoji="1" lang="ja-JP" altLang="en-US" sz="3600" i="1" smtClean="0">
                              <a:latin typeface="Cambria Math" panose="02040503050406030204" pitchFamily="18" charset="0"/>
                            </a:rPr>
                            <m:t>数</m:t>
                          </m:r>
                        </m:den>
                      </m:f>
                    </m:oMath>
                  </m:oMathPara>
                </a14:m>
                <a:endParaRPr kumimoji="1" lang="ja-JP" altLang="en-US" sz="3600" dirty="0"/>
              </a:p>
            </p:txBody>
          </p:sp>
        </mc:Choice>
        <mc:Fallback xmlns="">
          <p:sp>
            <p:nvSpPr>
              <p:cNvPr id="10" name="テキスト ボックス 9">
                <a:extLst>
                  <a:ext uri="{FF2B5EF4-FFF2-40B4-BE49-F238E27FC236}">
                    <a16:creationId xmlns:a16="http://schemas.microsoft.com/office/drawing/2014/main" id="{2AD04D09-846B-89EC-F88F-5939D44B03BC}"/>
                  </a:ext>
                </a:extLst>
              </p:cNvPr>
              <p:cNvSpPr txBox="1">
                <a:spLocks noRot="1" noChangeAspect="1" noMove="1" noResize="1" noEditPoints="1" noAdjustHandles="1" noChangeArrowheads="1" noChangeShapeType="1" noTextEdit="1"/>
              </p:cNvSpPr>
              <p:nvPr/>
            </p:nvSpPr>
            <p:spPr>
              <a:xfrm>
                <a:off x="1632981" y="4630479"/>
                <a:ext cx="3359894" cy="1152239"/>
              </a:xfrm>
              <a:prstGeom prst="rect">
                <a:avLst/>
              </a:prstGeom>
              <a:blipFill>
                <a:blip r:embed="rId5"/>
                <a:stretch>
                  <a:fillRect/>
                </a:stretch>
              </a:blipFill>
            </p:spPr>
            <p:txBody>
              <a:bodyPr/>
              <a:lstStyle/>
              <a:p>
                <a:r>
                  <a:rPr lang="ja-JP" altLang="en-US">
                    <a:noFill/>
                  </a:rPr>
                  <a:t> </a:t>
                </a:r>
              </a:p>
            </p:txBody>
          </p:sp>
        </mc:Fallback>
      </mc:AlternateContent>
      <p:pic>
        <p:nvPicPr>
          <p:cNvPr id="14" name="図 13">
            <a:extLst>
              <a:ext uri="{FF2B5EF4-FFF2-40B4-BE49-F238E27FC236}">
                <a16:creationId xmlns:a16="http://schemas.microsoft.com/office/drawing/2014/main" id="{89B268D2-80E3-C55E-54EB-0E242D5C4247}"/>
              </a:ext>
            </a:extLst>
          </p:cNvPr>
          <p:cNvPicPr>
            <a:picLocks noChangeAspect="1"/>
          </p:cNvPicPr>
          <p:nvPr/>
        </p:nvPicPr>
        <p:blipFill>
          <a:blip r:embed="rId6"/>
          <a:stretch>
            <a:fillRect/>
          </a:stretch>
        </p:blipFill>
        <p:spPr>
          <a:xfrm>
            <a:off x="6809688" y="143540"/>
            <a:ext cx="4471234" cy="3285460"/>
          </a:xfrm>
          <a:prstGeom prst="rect">
            <a:avLst/>
          </a:prstGeom>
        </p:spPr>
      </p:pic>
      <p:pic>
        <p:nvPicPr>
          <p:cNvPr id="19" name="図 18">
            <a:extLst>
              <a:ext uri="{FF2B5EF4-FFF2-40B4-BE49-F238E27FC236}">
                <a16:creationId xmlns:a16="http://schemas.microsoft.com/office/drawing/2014/main" id="{EB9EDF09-3FB4-CB9B-2C27-A85D5D7AB211}"/>
              </a:ext>
            </a:extLst>
          </p:cNvPr>
          <p:cNvPicPr>
            <a:picLocks noChangeAspect="1"/>
          </p:cNvPicPr>
          <p:nvPr/>
        </p:nvPicPr>
        <p:blipFill>
          <a:blip r:embed="rId7"/>
          <a:stretch>
            <a:fillRect/>
          </a:stretch>
        </p:blipFill>
        <p:spPr>
          <a:xfrm>
            <a:off x="7081943" y="3428997"/>
            <a:ext cx="3477076" cy="33657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54"/>
        <p:cNvGrpSpPr/>
        <p:nvPr/>
      </p:nvGrpSpPr>
      <p:grpSpPr>
        <a:xfrm>
          <a:off x="0" y="0"/>
          <a:ext cx="0" cy="0"/>
          <a:chOff x="0" y="0"/>
          <a:chExt cx="0" cy="0"/>
        </a:xfrm>
      </p:grpSpPr>
      <p:sp>
        <p:nvSpPr>
          <p:cNvPr id="156" name="Google Shape;156;p20"/>
          <p:cNvSpPr/>
          <p:nvPr/>
        </p:nvSpPr>
        <p:spPr>
          <a:xfrm>
            <a:off x="5524500" y="2919412"/>
            <a:ext cx="1143000" cy="57150"/>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20"/>
          <p:cNvSpPr txBox="1"/>
          <p:nvPr/>
        </p:nvSpPr>
        <p:spPr>
          <a:xfrm>
            <a:off x="3995737" y="3262312"/>
            <a:ext cx="4200525" cy="962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005088"/>
                </a:solidFill>
                <a:latin typeface="Noto Sans JP"/>
                <a:ea typeface="Noto Sans JP"/>
                <a:cs typeface="Noto Sans JP"/>
                <a:sym typeface="Noto Sans JP"/>
              </a:rPr>
              <a:t>点と点の距離</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sp>
        <p:nvSpPr>
          <p:cNvPr id="5" name="Google Shape;123;p17">
            <a:extLst>
              <a:ext uri="{FF2B5EF4-FFF2-40B4-BE49-F238E27FC236}">
                <a16:creationId xmlns:a16="http://schemas.microsoft.com/office/drawing/2014/main" id="{8BCF24BD-145C-AB3A-3F4C-0ADACF0FF298}"/>
              </a:ext>
            </a:extLst>
          </p:cNvPr>
          <p:cNvSpPr txBox="1"/>
          <p:nvPr/>
        </p:nvSpPr>
        <p:spPr>
          <a:xfrm>
            <a:off x="495300" y="1439644"/>
            <a:ext cx="5976938"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2000" b="0" i="0" u="none" strike="noStrike" cap="none" dirty="0">
                <a:solidFill>
                  <a:srgbClr val="334155"/>
                </a:solidFill>
                <a:latin typeface="Noto Sans JP"/>
                <a:ea typeface="Noto Sans JP"/>
                <a:cs typeface="Noto Sans JP"/>
                <a:sym typeface="Noto Sans JP"/>
              </a:rPr>
              <a:t>物体の運動を考える際に２点間の距離はたびたび必要になるが、逆を言えば２点間の距離さえ分かれば非常に多くの物理運動を再現できるようになる。</a:t>
            </a:r>
            <a:endParaRPr sz="1800" dirty="0"/>
          </a:p>
        </p:txBody>
      </p:sp>
      <p:pic>
        <p:nvPicPr>
          <p:cNvPr id="7" name="図 6">
            <a:extLst>
              <a:ext uri="{FF2B5EF4-FFF2-40B4-BE49-F238E27FC236}">
                <a16:creationId xmlns:a16="http://schemas.microsoft.com/office/drawing/2014/main" id="{D06F641C-3AAC-5DD1-9170-B2B66572F85F}"/>
              </a:ext>
            </a:extLst>
          </p:cNvPr>
          <p:cNvPicPr>
            <a:picLocks noChangeAspect="1"/>
          </p:cNvPicPr>
          <p:nvPr/>
        </p:nvPicPr>
        <p:blipFill>
          <a:blip r:embed="rId3"/>
          <a:stretch>
            <a:fillRect/>
          </a:stretch>
        </p:blipFill>
        <p:spPr>
          <a:xfrm>
            <a:off x="4812234" y="3032684"/>
            <a:ext cx="7379766" cy="3741853"/>
          </a:xfrm>
          <a:prstGeom prst="rect">
            <a:avLst/>
          </a:prstGeom>
        </p:spPr>
      </p:pic>
      <p:sp>
        <p:nvSpPr>
          <p:cNvPr id="8" name="Google Shape;123;p17">
            <a:extLst>
              <a:ext uri="{FF2B5EF4-FFF2-40B4-BE49-F238E27FC236}">
                <a16:creationId xmlns:a16="http://schemas.microsoft.com/office/drawing/2014/main" id="{FCD6F6C2-C7F9-8D29-93CF-68A8B54E419F}"/>
              </a:ext>
            </a:extLst>
          </p:cNvPr>
          <p:cNvSpPr txBox="1"/>
          <p:nvPr/>
        </p:nvSpPr>
        <p:spPr>
          <a:xfrm>
            <a:off x="733425" y="3429000"/>
            <a:ext cx="5976938" cy="861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2000" b="0" i="0" u="none" strike="noStrike" cap="none" dirty="0">
                <a:solidFill>
                  <a:srgbClr val="334155"/>
                </a:solidFill>
                <a:latin typeface="Noto Sans JP"/>
                <a:ea typeface="Noto Sans JP"/>
                <a:cs typeface="Noto Sans JP"/>
                <a:sym typeface="Noto Sans JP"/>
              </a:rPr>
              <a:t>物体の運動を考える上で、</a:t>
            </a:r>
            <a:endParaRPr lang="en-US" altLang="ja-JP" sz="2000" b="0" i="0" u="none" strike="noStrike" cap="none" dirty="0">
              <a:solidFill>
                <a:srgbClr val="334155"/>
              </a:solidFill>
              <a:latin typeface="Noto Sans JP"/>
              <a:ea typeface="Noto Sans JP"/>
              <a:cs typeface="Noto Sans JP"/>
              <a:sym typeface="Noto Sans JP"/>
            </a:endParaRPr>
          </a:p>
          <a:p>
            <a:pPr marL="0" marR="0" lvl="0" indent="0" algn="l" rtl="0">
              <a:lnSpc>
                <a:spcPct val="140000"/>
              </a:lnSpc>
              <a:spcBef>
                <a:spcPts val="0"/>
              </a:spcBef>
              <a:spcAft>
                <a:spcPts val="0"/>
              </a:spcAft>
              <a:buNone/>
            </a:pPr>
            <a:r>
              <a:rPr lang="ja-JP" altLang="en-US" sz="2000" dirty="0">
                <a:solidFill>
                  <a:srgbClr val="334155"/>
                </a:solidFill>
                <a:latin typeface="Noto Sans JP"/>
                <a:ea typeface="Noto Sans JP"/>
                <a:cs typeface="Noto Sans JP"/>
                <a:sym typeface="Noto Sans JP"/>
              </a:rPr>
              <a:t>　　　　　九九のような存在である。</a:t>
            </a:r>
            <a:endParaRPr sz="1800" dirty="0"/>
          </a:p>
        </p:txBody>
      </p:sp>
      <p:sp>
        <p:nvSpPr>
          <p:cNvPr id="10" name="Google Shape;170;p21">
            <a:extLst>
              <a:ext uri="{FF2B5EF4-FFF2-40B4-BE49-F238E27FC236}">
                <a16:creationId xmlns:a16="http://schemas.microsoft.com/office/drawing/2014/main" id="{8C03D4E3-3AF9-4D91-4871-F7DACD8BFFC8}"/>
              </a:ext>
            </a:extLst>
          </p:cNvPr>
          <p:cNvSpPr txBox="1"/>
          <p:nvPr/>
        </p:nvSpPr>
        <p:spPr>
          <a:xfrm>
            <a:off x="495300" y="366126"/>
            <a:ext cx="11601450" cy="615553"/>
          </a:xfrm>
          <a:prstGeom prst="rect">
            <a:avLst/>
          </a:prstGeom>
          <a:noFill/>
          <a:ln>
            <a:noFill/>
          </a:ln>
        </p:spPr>
        <p:txBody>
          <a:bodyPr spcFirstLastPara="1" wrap="square" lIns="0" tIns="0" rIns="0" bIns="0" anchor="t" anchorCtr="0">
            <a:spAutoFit/>
          </a:bodyPr>
          <a:lstStyle/>
          <a:p>
            <a:r>
              <a:rPr lang="ja-JP" altLang="en-US" sz="4000" b="1" dirty="0"/>
              <a:t>点と点の距離を考える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6789CB83-56A4-395A-45E6-333E3F36A4AD}"/>
            </a:ext>
          </a:extLst>
        </p:cNvPr>
        <p:cNvGrpSpPr/>
        <p:nvPr/>
      </p:nvGrpSpPr>
      <p:grpSpPr>
        <a:xfrm>
          <a:off x="0" y="0"/>
          <a:ext cx="0" cy="0"/>
          <a:chOff x="0" y="0"/>
          <a:chExt cx="0" cy="0"/>
        </a:xfrm>
      </p:grpSpPr>
      <p:pic>
        <p:nvPicPr>
          <p:cNvPr id="12" name="図 11">
            <a:extLst>
              <a:ext uri="{FF2B5EF4-FFF2-40B4-BE49-F238E27FC236}">
                <a16:creationId xmlns:a16="http://schemas.microsoft.com/office/drawing/2014/main" id="{52C6A6AC-2B39-BD85-41B6-2341E43C7E83}"/>
              </a:ext>
            </a:extLst>
          </p:cNvPr>
          <p:cNvPicPr>
            <a:picLocks noChangeAspect="1"/>
          </p:cNvPicPr>
          <p:nvPr/>
        </p:nvPicPr>
        <p:blipFill>
          <a:blip r:embed="rId3"/>
          <a:stretch>
            <a:fillRect/>
          </a:stretch>
        </p:blipFill>
        <p:spPr>
          <a:xfrm>
            <a:off x="1784652" y="690891"/>
            <a:ext cx="8869013" cy="3781953"/>
          </a:xfrm>
          <a:prstGeom prst="rect">
            <a:avLst/>
          </a:prstGeom>
        </p:spPr>
      </p:pic>
      <p:sp>
        <p:nvSpPr>
          <p:cNvPr id="7" name="Google Shape;170;p21">
            <a:extLst>
              <a:ext uri="{FF2B5EF4-FFF2-40B4-BE49-F238E27FC236}">
                <a16:creationId xmlns:a16="http://schemas.microsoft.com/office/drawing/2014/main" id="{E1DE687B-A104-2A1F-3748-C1F5C0DC2E01}"/>
              </a:ext>
            </a:extLst>
          </p:cNvPr>
          <p:cNvSpPr txBox="1"/>
          <p:nvPr/>
        </p:nvSpPr>
        <p:spPr>
          <a:xfrm>
            <a:off x="418433" y="214526"/>
            <a:ext cx="11601450" cy="615553"/>
          </a:xfrm>
          <a:prstGeom prst="rect">
            <a:avLst/>
          </a:prstGeom>
          <a:noFill/>
          <a:ln>
            <a:noFill/>
          </a:ln>
        </p:spPr>
        <p:txBody>
          <a:bodyPr spcFirstLastPara="1" wrap="square" lIns="0" tIns="0" rIns="0" bIns="0" anchor="t" anchorCtr="0">
            <a:spAutoFit/>
          </a:bodyPr>
          <a:lstStyle/>
          <a:p>
            <a:r>
              <a:rPr lang="ja-JP" altLang="en-US" sz="4000" b="1" dirty="0"/>
              <a:t>三平方の定理（ピタゴラスの定理）</a:t>
            </a:r>
          </a:p>
        </p:txBody>
      </p:sp>
      <p:pic>
        <p:nvPicPr>
          <p:cNvPr id="14" name="図 13">
            <a:extLst>
              <a:ext uri="{FF2B5EF4-FFF2-40B4-BE49-F238E27FC236}">
                <a16:creationId xmlns:a16="http://schemas.microsoft.com/office/drawing/2014/main" id="{3A32C15C-8365-0133-E1F1-CFC466EAD365}"/>
              </a:ext>
            </a:extLst>
          </p:cNvPr>
          <p:cNvPicPr>
            <a:picLocks noChangeAspect="1"/>
          </p:cNvPicPr>
          <p:nvPr/>
        </p:nvPicPr>
        <p:blipFill>
          <a:blip r:embed="rId4"/>
          <a:stretch>
            <a:fillRect/>
          </a:stretch>
        </p:blipFill>
        <p:spPr>
          <a:xfrm>
            <a:off x="1438326" y="4810021"/>
            <a:ext cx="9561667" cy="2047979"/>
          </a:xfrm>
          <a:prstGeom prst="rect">
            <a:avLst/>
          </a:prstGeom>
        </p:spPr>
      </p:pic>
    </p:spTree>
    <p:extLst>
      <p:ext uri="{BB962C8B-B14F-4D97-AF65-F5344CB8AC3E}">
        <p14:creationId xmlns:p14="http://schemas.microsoft.com/office/powerpoint/2010/main" val="3856322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144BEBAD-CC81-05F4-5803-6EB551973594}"/>
            </a:ext>
          </a:extLst>
        </p:cNvPr>
        <p:cNvGrpSpPr/>
        <p:nvPr/>
      </p:nvGrpSpPr>
      <p:grpSpPr>
        <a:xfrm>
          <a:off x="0" y="0"/>
          <a:ext cx="0" cy="0"/>
          <a:chOff x="0" y="0"/>
          <a:chExt cx="0" cy="0"/>
        </a:xfrm>
      </p:grpSpPr>
      <p:sp>
        <p:nvSpPr>
          <p:cNvPr id="5" name="Google Shape;123;p17">
            <a:extLst>
              <a:ext uri="{FF2B5EF4-FFF2-40B4-BE49-F238E27FC236}">
                <a16:creationId xmlns:a16="http://schemas.microsoft.com/office/drawing/2014/main" id="{65EA76B9-8AC4-59DC-7908-D5B2C556E30D}"/>
              </a:ext>
            </a:extLst>
          </p:cNvPr>
          <p:cNvSpPr txBox="1"/>
          <p:nvPr/>
        </p:nvSpPr>
        <p:spPr>
          <a:xfrm>
            <a:off x="295275" y="1065828"/>
            <a:ext cx="8962736" cy="43088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ja-JP" altLang="en-US" sz="2000" b="0" i="0" u="none" strike="noStrike" cap="none" dirty="0">
                <a:solidFill>
                  <a:srgbClr val="334155"/>
                </a:solidFill>
                <a:latin typeface="Noto Sans JP"/>
                <a:ea typeface="Noto Sans JP"/>
                <a:cs typeface="Noto Sans JP"/>
                <a:sym typeface="Noto Sans JP"/>
              </a:rPr>
              <a:t>ピタゴラスの定理を用いることによって、</a:t>
            </a:r>
            <a:r>
              <a:rPr lang="en-US" altLang="ja-JP" sz="2000" b="0" i="0" u="none" strike="noStrike" cap="none" dirty="0">
                <a:solidFill>
                  <a:srgbClr val="334155"/>
                </a:solidFill>
                <a:latin typeface="Noto Sans JP"/>
                <a:ea typeface="Noto Sans JP"/>
                <a:cs typeface="Noto Sans JP"/>
                <a:sym typeface="Noto Sans JP"/>
              </a:rPr>
              <a:t>2</a:t>
            </a:r>
            <a:r>
              <a:rPr lang="ja-JP" altLang="en-US" sz="2000" b="0" i="0" u="none" strike="noStrike" cap="none" dirty="0">
                <a:solidFill>
                  <a:srgbClr val="334155"/>
                </a:solidFill>
                <a:latin typeface="Noto Sans JP"/>
                <a:ea typeface="Noto Sans JP"/>
                <a:cs typeface="Noto Sans JP"/>
                <a:sym typeface="Noto Sans JP"/>
              </a:rPr>
              <a:t>点間の距離を求める事が出来る。</a:t>
            </a:r>
            <a:endParaRPr sz="1800" dirty="0"/>
          </a:p>
        </p:txBody>
      </p:sp>
      <p:sp>
        <p:nvSpPr>
          <p:cNvPr id="10" name="Google Shape;170;p21">
            <a:extLst>
              <a:ext uri="{FF2B5EF4-FFF2-40B4-BE49-F238E27FC236}">
                <a16:creationId xmlns:a16="http://schemas.microsoft.com/office/drawing/2014/main" id="{00E63E0A-0333-D2EC-D353-40908E89CBAC}"/>
              </a:ext>
            </a:extLst>
          </p:cNvPr>
          <p:cNvSpPr txBox="1"/>
          <p:nvPr/>
        </p:nvSpPr>
        <p:spPr>
          <a:xfrm>
            <a:off x="295275" y="374770"/>
            <a:ext cx="11601450" cy="615553"/>
          </a:xfrm>
          <a:prstGeom prst="rect">
            <a:avLst/>
          </a:prstGeom>
          <a:noFill/>
          <a:ln>
            <a:noFill/>
          </a:ln>
        </p:spPr>
        <p:txBody>
          <a:bodyPr spcFirstLastPara="1" wrap="square" lIns="0" tIns="0" rIns="0" bIns="0" anchor="t" anchorCtr="0">
            <a:spAutoFit/>
          </a:bodyPr>
          <a:lstStyle/>
          <a:p>
            <a:r>
              <a:rPr lang="ja-JP" altLang="en-US" sz="4000" b="1" dirty="0"/>
              <a:t>点と点の距離</a:t>
            </a:r>
          </a:p>
        </p:txBody>
      </p:sp>
      <p:pic>
        <p:nvPicPr>
          <p:cNvPr id="3" name="図 2">
            <a:extLst>
              <a:ext uri="{FF2B5EF4-FFF2-40B4-BE49-F238E27FC236}">
                <a16:creationId xmlns:a16="http://schemas.microsoft.com/office/drawing/2014/main" id="{88CC1AD2-BC2F-8B45-1B6E-BEC31EEFC9A4}"/>
              </a:ext>
            </a:extLst>
          </p:cNvPr>
          <p:cNvPicPr>
            <a:picLocks noChangeAspect="1"/>
          </p:cNvPicPr>
          <p:nvPr/>
        </p:nvPicPr>
        <p:blipFill>
          <a:blip r:embed="rId3"/>
          <a:stretch>
            <a:fillRect/>
          </a:stretch>
        </p:blipFill>
        <p:spPr>
          <a:xfrm>
            <a:off x="6096000" y="2220946"/>
            <a:ext cx="6096000" cy="3401786"/>
          </a:xfrm>
          <a:prstGeom prst="rect">
            <a:avLst/>
          </a:prstGeom>
        </p:spPr>
      </p:pic>
      <p:pic>
        <p:nvPicPr>
          <p:cNvPr id="6" name="図 5">
            <a:extLst>
              <a:ext uri="{FF2B5EF4-FFF2-40B4-BE49-F238E27FC236}">
                <a16:creationId xmlns:a16="http://schemas.microsoft.com/office/drawing/2014/main" id="{3E2671A2-8BE0-0338-C4BB-644DD28445BE}"/>
              </a:ext>
            </a:extLst>
          </p:cNvPr>
          <p:cNvPicPr>
            <a:picLocks noChangeAspect="1"/>
          </p:cNvPicPr>
          <p:nvPr/>
        </p:nvPicPr>
        <p:blipFill>
          <a:blip r:embed="rId4"/>
          <a:stretch>
            <a:fillRect/>
          </a:stretch>
        </p:blipFill>
        <p:spPr>
          <a:xfrm>
            <a:off x="178557" y="2003108"/>
            <a:ext cx="5917443" cy="4323679"/>
          </a:xfrm>
          <a:prstGeom prst="rect">
            <a:avLst/>
          </a:prstGeom>
        </p:spPr>
      </p:pic>
    </p:spTree>
    <p:extLst>
      <p:ext uri="{BB962C8B-B14F-4D97-AF65-F5344CB8AC3E}">
        <p14:creationId xmlns:p14="http://schemas.microsoft.com/office/powerpoint/2010/main" val="3120209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4"/>
        <p:cNvGrpSpPr/>
        <p:nvPr/>
      </p:nvGrpSpPr>
      <p:grpSpPr>
        <a:xfrm>
          <a:off x="0" y="0"/>
          <a:ext cx="0" cy="0"/>
          <a:chOff x="0" y="0"/>
          <a:chExt cx="0" cy="0"/>
        </a:xfrm>
      </p:grpSpPr>
      <p:pic>
        <p:nvPicPr>
          <p:cNvPr id="177" name="Google Shape;177;p22" descr="image.png"/>
          <p:cNvPicPr preferRelativeResize="0"/>
          <p:nvPr/>
        </p:nvPicPr>
        <p:blipFill rotWithShape="1">
          <a:blip r:embed="rId3">
            <a:alphaModFix/>
          </a:blip>
          <a:srcRect/>
          <a:stretch/>
        </p:blipFill>
        <p:spPr>
          <a:xfrm>
            <a:off x="1949331" y="2989483"/>
            <a:ext cx="8452427" cy="1536352"/>
          </a:xfrm>
          <a:prstGeom prst="rect">
            <a:avLst/>
          </a:prstGeom>
          <a:noFill/>
          <a:ln>
            <a:noFill/>
          </a:ln>
        </p:spPr>
      </p:pic>
      <p:sp>
        <p:nvSpPr>
          <p:cNvPr id="178" name="Google Shape;178;p22"/>
          <p:cNvSpPr txBox="1"/>
          <p:nvPr/>
        </p:nvSpPr>
        <p:spPr>
          <a:xfrm>
            <a:off x="811645" y="1500846"/>
            <a:ext cx="10816937" cy="43088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dirty="0">
                <a:solidFill>
                  <a:srgbClr val="334155"/>
                </a:solidFill>
                <a:latin typeface="Noto Sans JP"/>
                <a:ea typeface="Noto Sans JP"/>
                <a:cs typeface="Noto Sans JP"/>
                <a:sym typeface="Noto Sans JP"/>
              </a:rPr>
              <a:t>x成分の差とy成分の差から直角三角形を作り、距離Lを導きます</a:t>
            </a:r>
            <a:r>
              <a:rPr lang="en-US" b="0" i="0" u="none" strike="noStrike" cap="none" dirty="0">
                <a:solidFill>
                  <a:srgbClr val="334155"/>
                </a:solidFill>
                <a:latin typeface="Noto Sans JP"/>
                <a:ea typeface="Noto Sans JP"/>
                <a:cs typeface="Noto Sans JP"/>
                <a:sym typeface="Noto Sans JP"/>
              </a:rPr>
              <a:t>。</a:t>
            </a:r>
            <a:endParaRPr sz="1100" dirty="0"/>
          </a:p>
        </p:txBody>
      </p:sp>
      <p:sp>
        <p:nvSpPr>
          <p:cNvPr id="179" name="Google Shape;179;p22"/>
          <p:cNvSpPr txBox="1"/>
          <p:nvPr/>
        </p:nvSpPr>
        <p:spPr>
          <a:xfrm>
            <a:off x="5698332" y="5166545"/>
            <a:ext cx="6474618" cy="5170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334155"/>
                </a:solidFill>
                <a:latin typeface="Noto Sans JP"/>
                <a:ea typeface="Noto Sans JP"/>
                <a:cs typeface="Noto Sans JP"/>
                <a:sym typeface="Noto Sans JP"/>
              </a:rPr>
              <a:t>ゲーム開発で最も多用される公式の一つです。</a:t>
            </a:r>
            <a:endParaRPr sz="2000" dirty="0"/>
          </a:p>
        </p:txBody>
      </p:sp>
      <p:sp>
        <p:nvSpPr>
          <p:cNvPr id="182" name="Google Shape;182;p22"/>
          <p:cNvSpPr txBox="1"/>
          <p:nvPr/>
        </p:nvSpPr>
        <p:spPr>
          <a:xfrm>
            <a:off x="432840" y="438365"/>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ja-JP" sz="3200" b="1" dirty="0"/>
              <a:t>2</a:t>
            </a:r>
            <a:r>
              <a:rPr lang="ja-JP" altLang="en-US" sz="3200" b="1" dirty="0"/>
              <a:t>点間の距離を求める公式</a:t>
            </a:r>
          </a:p>
        </p:txBody>
      </p:sp>
      <p:pic>
        <p:nvPicPr>
          <p:cNvPr id="3" name="図 2">
            <a:extLst>
              <a:ext uri="{FF2B5EF4-FFF2-40B4-BE49-F238E27FC236}">
                <a16:creationId xmlns:a16="http://schemas.microsoft.com/office/drawing/2014/main" id="{DFC6BC1F-EB02-5943-B820-7D22129A0D04}"/>
              </a:ext>
            </a:extLst>
          </p:cNvPr>
          <p:cNvPicPr>
            <a:picLocks noChangeAspect="1"/>
          </p:cNvPicPr>
          <p:nvPr/>
        </p:nvPicPr>
        <p:blipFill>
          <a:blip r:embed="rId4"/>
          <a:stretch>
            <a:fillRect/>
          </a:stretch>
        </p:blipFill>
        <p:spPr>
          <a:xfrm>
            <a:off x="1301948" y="2136458"/>
            <a:ext cx="7344341" cy="601138"/>
          </a:xfrm>
          <a:prstGeom prst="rect">
            <a:avLst/>
          </a:prstGeom>
        </p:spPr>
      </p:pic>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C1A8BE57-5CC7-FF6D-C350-47177126F942}"/>
                  </a:ext>
                </a:extLst>
              </p:cNvPr>
              <p:cNvSpPr txBox="1"/>
              <p:nvPr/>
            </p:nvSpPr>
            <p:spPr>
              <a:xfrm>
                <a:off x="2065373" y="3122419"/>
                <a:ext cx="8336385" cy="10240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ja-JP" altLang="en-US" sz="4800" b="1" i="1" smtClean="0">
                              <a:latin typeface="Cambria Math" panose="02040503050406030204" pitchFamily="18" charset="0"/>
                            </a:rPr>
                          </m:ctrlPr>
                        </m:sSupPr>
                        <m:e>
                          <m:r>
                            <a:rPr kumimoji="1" lang="ja-JP" altLang="en-US" sz="4800" b="1" i="1" smtClean="0">
                              <a:latin typeface="Cambria Math" panose="02040503050406030204" pitchFamily="18" charset="0"/>
                            </a:rPr>
                            <m:t>𝑳</m:t>
                          </m:r>
                        </m:e>
                        <m:sup>
                          <m:r>
                            <a:rPr kumimoji="1" lang="ja-JP" altLang="en-US" sz="4800" b="1" i="1" smtClean="0">
                              <a:latin typeface="Cambria Math" panose="02040503050406030204" pitchFamily="18" charset="0"/>
                            </a:rPr>
                            <m:t>𝟐</m:t>
                          </m:r>
                        </m:sup>
                      </m:sSup>
                      <m:r>
                        <a:rPr kumimoji="1" lang="ja-JP" altLang="en-US" sz="4800" b="1" i="1" smtClean="0">
                          <a:latin typeface="Cambria Math" panose="02040503050406030204" pitchFamily="18" charset="0"/>
                        </a:rPr>
                        <m:t>=</m:t>
                      </m:r>
                      <m:sSup>
                        <m:sSupPr>
                          <m:ctrlPr>
                            <a:rPr kumimoji="1" lang="ja-JP" altLang="en-US" sz="4800" b="1" i="1" smtClean="0">
                              <a:latin typeface="Cambria Math" panose="02040503050406030204" pitchFamily="18" charset="0"/>
                            </a:rPr>
                          </m:ctrlPr>
                        </m:sSupPr>
                        <m:e>
                          <m:d>
                            <m:dPr>
                              <m:ctrlPr>
                                <a:rPr kumimoji="1" lang="ja-JP" altLang="en-US" sz="4800" b="1" i="1" smtClean="0">
                                  <a:latin typeface="Cambria Math" panose="02040503050406030204" pitchFamily="18" charset="0"/>
                                </a:rPr>
                              </m:ctrlPr>
                            </m:dPr>
                            <m:e>
                              <m:sSub>
                                <m:sSubPr>
                                  <m:ctrlPr>
                                    <a:rPr kumimoji="1" lang="ja-JP" altLang="en-US" sz="4800" b="1" i="1" smtClean="0">
                                      <a:latin typeface="Cambria Math" panose="02040503050406030204" pitchFamily="18" charset="0"/>
                                    </a:rPr>
                                  </m:ctrlPr>
                                </m:sSubPr>
                                <m:e>
                                  <m:r>
                                    <a:rPr kumimoji="1" lang="ja-JP" altLang="en-US" sz="4800" b="1" i="1" smtClean="0">
                                      <a:latin typeface="Cambria Math" panose="02040503050406030204" pitchFamily="18" charset="0"/>
                                    </a:rPr>
                                    <m:t>𝑨</m:t>
                                  </m:r>
                                </m:e>
                                <m:sub>
                                  <m:r>
                                    <a:rPr kumimoji="1" lang="ja-JP" altLang="en-US" sz="4800" b="1" i="1" smtClean="0">
                                      <a:latin typeface="Cambria Math" panose="02040503050406030204" pitchFamily="18" charset="0"/>
                                    </a:rPr>
                                    <m:t>𝒙</m:t>
                                  </m:r>
                                </m:sub>
                              </m:sSub>
                              <m:r>
                                <a:rPr kumimoji="1" lang="ja-JP" altLang="en-US" sz="4800" b="1" i="1" smtClean="0">
                                  <a:latin typeface="Cambria Math" panose="02040503050406030204" pitchFamily="18" charset="0"/>
                                </a:rPr>
                                <m:t>−</m:t>
                              </m:r>
                              <m:sSub>
                                <m:sSubPr>
                                  <m:ctrlPr>
                                    <a:rPr kumimoji="1" lang="ja-JP" altLang="en-US" sz="4800" b="1" i="1" smtClean="0">
                                      <a:latin typeface="Cambria Math" panose="02040503050406030204" pitchFamily="18" charset="0"/>
                                    </a:rPr>
                                  </m:ctrlPr>
                                </m:sSubPr>
                                <m:e>
                                  <m:r>
                                    <a:rPr kumimoji="1" lang="ja-JP" altLang="en-US" sz="4800" b="1" i="1" smtClean="0">
                                      <a:latin typeface="Cambria Math" panose="02040503050406030204" pitchFamily="18" charset="0"/>
                                    </a:rPr>
                                    <m:t>𝑩</m:t>
                                  </m:r>
                                </m:e>
                                <m:sub>
                                  <m:r>
                                    <a:rPr kumimoji="1" lang="ja-JP" altLang="en-US" sz="4800" b="1" i="1" smtClean="0">
                                      <a:latin typeface="Cambria Math" panose="02040503050406030204" pitchFamily="18" charset="0"/>
                                    </a:rPr>
                                    <m:t>𝒙</m:t>
                                  </m:r>
                                </m:sub>
                              </m:sSub>
                            </m:e>
                          </m:d>
                        </m:e>
                        <m:sup>
                          <m:r>
                            <a:rPr kumimoji="1" lang="ja-JP" altLang="en-US" sz="4800" b="1" i="1" smtClean="0">
                              <a:latin typeface="Cambria Math" panose="02040503050406030204" pitchFamily="18" charset="0"/>
                            </a:rPr>
                            <m:t>𝟐</m:t>
                          </m:r>
                        </m:sup>
                      </m:sSup>
                      <m:r>
                        <a:rPr kumimoji="1" lang="ja-JP" altLang="en-US" sz="4800" b="1" i="1" smtClean="0">
                          <a:latin typeface="Cambria Math" panose="02040503050406030204" pitchFamily="18" charset="0"/>
                        </a:rPr>
                        <m:t>+</m:t>
                      </m:r>
                      <m:sSup>
                        <m:sSupPr>
                          <m:ctrlPr>
                            <a:rPr kumimoji="1" lang="ja-JP" altLang="en-US" sz="4800" b="1" i="1" smtClean="0">
                              <a:latin typeface="Cambria Math" panose="02040503050406030204" pitchFamily="18" charset="0"/>
                            </a:rPr>
                          </m:ctrlPr>
                        </m:sSupPr>
                        <m:e>
                          <m:d>
                            <m:dPr>
                              <m:ctrlPr>
                                <a:rPr kumimoji="1" lang="ja-JP" altLang="en-US" sz="4800" b="1" i="1" smtClean="0">
                                  <a:latin typeface="Cambria Math" panose="02040503050406030204" pitchFamily="18" charset="0"/>
                                </a:rPr>
                              </m:ctrlPr>
                            </m:dPr>
                            <m:e>
                              <m:sSub>
                                <m:sSubPr>
                                  <m:ctrlPr>
                                    <a:rPr kumimoji="1" lang="ja-JP" altLang="en-US" sz="4800" b="1" i="1" smtClean="0">
                                      <a:latin typeface="Cambria Math" panose="02040503050406030204" pitchFamily="18" charset="0"/>
                                    </a:rPr>
                                  </m:ctrlPr>
                                </m:sSubPr>
                                <m:e>
                                  <m:r>
                                    <a:rPr kumimoji="1" lang="ja-JP" altLang="en-US" sz="4800" b="1" i="1" smtClean="0">
                                      <a:latin typeface="Cambria Math" panose="02040503050406030204" pitchFamily="18" charset="0"/>
                                    </a:rPr>
                                    <m:t>𝑨</m:t>
                                  </m:r>
                                </m:e>
                                <m:sub>
                                  <m:r>
                                    <a:rPr kumimoji="1" lang="ja-JP" altLang="en-US" sz="4800" b="1" i="1" smtClean="0">
                                      <a:latin typeface="Cambria Math" panose="02040503050406030204" pitchFamily="18" charset="0"/>
                                    </a:rPr>
                                    <m:t>𝒚</m:t>
                                  </m:r>
                                </m:sub>
                              </m:sSub>
                              <m:r>
                                <a:rPr kumimoji="1" lang="ja-JP" altLang="en-US" sz="4800" b="1" i="1" smtClean="0">
                                  <a:latin typeface="Cambria Math" panose="02040503050406030204" pitchFamily="18" charset="0"/>
                                </a:rPr>
                                <m:t>−</m:t>
                              </m:r>
                              <m:sSub>
                                <m:sSubPr>
                                  <m:ctrlPr>
                                    <a:rPr kumimoji="1" lang="ja-JP" altLang="en-US" sz="4800" b="1" i="1" smtClean="0">
                                      <a:latin typeface="Cambria Math" panose="02040503050406030204" pitchFamily="18" charset="0"/>
                                    </a:rPr>
                                  </m:ctrlPr>
                                </m:sSubPr>
                                <m:e>
                                  <m:r>
                                    <a:rPr kumimoji="1" lang="ja-JP" altLang="en-US" sz="4800" b="1" i="1" smtClean="0">
                                      <a:latin typeface="Cambria Math" panose="02040503050406030204" pitchFamily="18" charset="0"/>
                                    </a:rPr>
                                    <m:t>𝑩</m:t>
                                  </m:r>
                                </m:e>
                                <m:sub>
                                  <m:r>
                                    <a:rPr kumimoji="1" lang="ja-JP" altLang="en-US" sz="4800" b="1" i="1" smtClean="0">
                                      <a:latin typeface="Cambria Math" panose="02040503050406030204" pitchFamily="18" charset="0"/>
                                    </a:rPr>
                                    <m:t>𝒚</m:t>
                                  </m:r>
                                </m:sub>
                              </m:sSub>
                            </m:e>
                          </m:d>
                        </m:e>
                        <m:sup>
                          <m:r>
                            <a:rPr kumimoji="1" lang="ja-JP" altLang="en-US" sz="4800" b="1" i="1" smtClean="0">
                              <a:latin typeface="Cambria Math" panose="02040503050406030204" pitchFamily="18" charset="0"/>
                            </a:rPr>
                            <m:t>𝟐</m:t>
                          </m:r>
                        </m:sup>
                      </m:sSup>
                    </m:oMath>
                  </m:oMathPara>
                </a14:m>
                <a:endParaRPr kumimoji="1" lang="ja-JP" altLang="en-US" sz="1800" b="1" dirty="0"/>
              </a:p>
            </p:txBody>
          </p:sp>
        </mc:Choice>
        <mc:Fallback xmlns="">
          <p:sp>
            <p:nvSpPr>
              <p:cNvPr id="2" name="テキスト ボックス 1">
                <a:extLst>
                  <a:ext uri="{FF2B5EF4-FFF2-40B4-BE49-F238E27FC236}">
                    <a16:creationId xmlns:a16="http://schemas.microsoft.com/office/drawing/2014/main" id="{C1A8BE57-5CC7-FF6D-C350-47177126F942}"/>
                  </a:ext>
                </a:extLst>
              </p:cNvPr>
              <p:cNvSpPr txBox="1">
                <a:spLocks noRot="1" noChangeAspect="1" noMove="1" noResize="1" noEditPoints="1" noAdjustHandles="1" noChangeArrowheads="1" noChangeShapeType="1" noTextEdit="1"/>
              </p:cNvSpPr>
              <p:nvPr/>
            </p:nvSpPr>
            <p:spPr>
              <a:xfrm>
                <a:off x="2065373" y="3122419"/>
                <a:ext cx="8336385" cy="1024063"/>
              </a:xfrm>
              <a:prstGeom prst="rect">
                <a:avLst/>
              </a:prstGeom>
              <a:blipFill>
                <a:blip r:embed="rId5"/>
                <a:stretch>
                  <a:fillRect/>
                </a:stretch>
              </a:blipFill>
            </p:spPr>
            <p:txBody>
              <a:bodyPr/>
              <a:lstStyle/>
              <a:p>
                <a:r>
                  <a:rPr lang="ja-JP"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86"/>
        <p:cNvGrpSpPr/>
        <p:nvPr/>
      </p:nvGrpSpPr>
      <p:grpSpPr>
        <a:xfrm>
          <a:off x="0" y="0"/>
          <a:ext cx="0" cy="0"/>
          <a:chOff x="0" y="0"/>
          <a:chExt cx="0" cy="0"/>
        </a:xfrm>
      </p:grpSpPr>
      <p:sp>
        <p:nvSpPr>
          <p:cNvPr id="188" name="Google Shape;188;p23"/>
          <p:cNvSpPr/>
          <p:nvPr/>
        </p:nvSpPr>
        <p:spPr>
          <a:xfrm>
            <a:off x="5524500" y="2919412"/>
            <a:ext cx="1143000" cy="57150"/>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23"/>
          <p:cNvSpPr txBox="1"/>
          <p:nvPr/>
        </p:nvSpPr>
        <p:spPr>
          <a:xfrm>
            <a:off x="3645693" y="3262312"/>
            <a:ext cx="4900612" cy="80791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dirty="0">
                <a:solidFill>
                  <a:srgbClr val="005088"/>
                </a:solidFill>
                <a:latin typeface="+mj-lt"/>
                <a:ea typeface="Noto Sans JP"/>
                <a:cs typeface="Noto Sans JP"/>
                <a:sym typeface="Noto Sans JP"/>
              </a:rPr>
              <a:t>相対位置と移動</a:t>
            </a:r>
            <a:endParaRPr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3"/>
        <p:cNvGrpSpPr/>
        <p:nvPr/>
      </p:nvGrpSpPr>
      <p:grpSpPr>
        <a:xfrm>
          <a:off x="0" y="0"/>
          <a:ext cx="0" cy="0"/>
          <a:chOff x="0" y="0"/>
          <a:chExt cx="0" cy="0"/>
        </a:xfrm>
      </p:grpSpPr>
      <p:pic>
        <p:nvPicPr>
          <p:cNvPr id="196" name="Google Shape;196;p24" descr="image.png"/>
          <p:cNvPicPr preferRelativeResize="0"/>
          <p:nvPr/>
        </p:nvPicPr>
        <p:blipFill rotWithShape="1">
          <a:blip r:embed="rId3">
            <a:alphaModFix/>
          </a:blip>
          <a:srcRect/>
          <a:stretch/>
        </p:blipFill>
        <p:spPr>
          <a:xfrm>
            <a:off x="613403" y="3041908"/>
            <a:ext cx="5590067" cy="1039588"/>
          </a:xfrm>
          <a:prstGeom prst="rect">
            <a:avLst/>
          </a:prstGeom>
          <a:noFill/>
          <a:ln>
            <a:noFill/>
          </a:ln>
        </p:spPr>
      </p:pic>
      <p:sp>
        <p:nvSpPr>
          <p:cNvPr id="197" name="Google Shape;197;p24"/>
          <p:cNvSpPr txBox="1"/>
          <p:nvPr/>
        </p:nvSpPr>
        <p:spPr>
          <a:xfrm>
            <a:off x="484789" y="1341385"/>
            <a:ext cx="5871831"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dirty="0" err="1">
                <a:solidFill>
                  <a:srgbClr val="334155"/>
                </a:solidFill>
                <a:latin typeface="Noto Sans JP"/>
                <a:ea typeface="Noto Sans JP"/>
                <a:cs typeface="Noto Sans JP"/>
                <a:sym typeface="Noto Sans JP"/>
              </a:rPr>
              <a:t>相対位置とは</a:t>
            </a:r>
            <a:endParaRPr lang="en-US" sz="1800" b="0" i="0" u="none" strike="noStrike" cap="none" dirty="0">
              <a:solidFill>
                <a:srgbClr val="334155"/>
              </a:solidFill>
              <a:latin typeface="Noto Sans JP"/>
              <a:ea typeface="Noto Sans JP"/>
              <a:cs typeface="Noto Sans JP"/>
              <a:sym typeface="Noto Sans JP"/>
            </a:endParaRPr>
          </a:p>
          <a:p>
            <a:pPr marL="0" marR="0" lvl="0" indent="0" algn="l" rtl="0">
              <a:lnSpc>
                <a:spcPct val="140000"/>
              </a:lnSpc>
              <a:spcBef>
                <a:spcPts val="0"/>
              </a:spcBef>
              <a:spcAft>
                <a:spcPts val="0"/>
              </a:spcAft>
              <a:buNone/>
            </a:pPr>
            <a:r>
              <a:rPr lang="en-US" sz="2000" b="1" i="0" u="none" strike="noStrike" cap="none" dirty="0">
                <a:solidFill>
                  <a:srgbClr val="FF0000"/>
                </a:solidFill>
                <a:latin typeface="Noto Sans JP"/>
                <a:ea typeface="Noto Sans JP"/>
                <a:cs typeface="Noto Sans JP"/>
                <a:sym typeface="Noto Sans JP"/>
              </a:rPr>
              <a:t>「自分から見て相手がどの位置にいるか」</a:t>
            </a:r>
            <a:r>
              <a:rPr lang="en-US" sz="1800" b="0" i="0" u="none" strike="noStrike" cap="none" dirty="0">
                <a:solidFill>
                  <a:srgbClr val="334155"/>
                </a:solidFill>
                <a:latin typeface="Noto Sans JP"/>
                <a:ea typeface="Noto Sans JP"/>
                <a:cs typeface="Noto Sans JP"/>
                <a:sym typeface="Noto Sans JP"/>
              </a:rPr>
              <a:t>です。</a:t>
            </a:r>
          </a:p>
          <a:p>
            <a:pPr marL="0" marR="0" lvl="0" indent="0" algn="l" rtl="0">
              <a:lnSpc>
                <a:spcPct val="140000"/>
              </a:lnSpc>
              <a:spcBef>
                <a:spcPts val="0"/>
              </a:spcBef>
              <a:spcAft>
                <a:spcPts val="0"/>
              </a:spcAft>
              <a:buNone/>
            </a:pPr>
            <a:r>
              <a:rPr lang="en-US" sz="1800" b="0" i="0" u="none" strike="noStrike" cap="none" dirty="0">
                <a:solidFill>
                  <a:srgbClr val="334155"/>
                </a:solidFill>
                <a:latin typeface="Noto Sans JP"/>
                <a:ea typeface="Noto Sans JP"/>
                <a:cs typeface="Noto Sans JP"/>
                <a:sym typeface="Noto Sans JP"/>
              </a:rPr>
              <a:t>移動を考える上で最も重要な考え方です。</a:t>
            </a:r>
            <a:endParaRPr sz="1600" dirty="0"/>
          </a:p>
        </p:txBody>
      </p:sp>
      <p:sp>
        <p:nvSpPr>
          <p:cNvPr id="198" name="Google Shape;198;p24"/>
          <p:cNvSpPr txBox="1"/>
          <p:nvPr/>
        </p:nvSpPr>
        <p:spPr>
          <a:xfrm>
            <a:off x="613403" y="4670456"/>
            <a:ext cx="5334000" cy="430887"/>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ja-JP" altLang="en-US" sz="2000" dirty="0"/>
              <a:t>で相対位置が出せます。</a:t>
            </a:r>
            <a:endParaRPr dirty="0"/>
          </a:p>
        </p:txBody>
      </p:sp>
      <p:pic>
        <p:nvPicPr>
          <p:cNvPr id="200" name="Google Shape;200;p24" descr="image.png"/>
          <p:cNvPicPr preferRelativeResize="0"/>
          <p:nvPr/>
        </p:nvPicPr>
        <p:blipFill rotWithShape="1">
          <a:blip r:embed="rId4">
            <a:alphaModFix/>
          </a:blip>
          <a:srcRect/>
          <a:stretch/>
        </p:blipFill>
        <p:spPr>
          <a:xfrm>
            <a:off x="1473819" y="3361677"/>
            <a:ext cx="3869233" cy="400050"/>
          </a:xfrm>
          <a:prstGeom prst="rect">
            <a:avLst/>
          </a:prstGeom>
          <a:noFill/>
          <a:ln>
            <a:noFill/>
          </a:ln>
        </p:spPr>
      </p:pic>
      <p:sp>
        <p:nvSpPr>
          <p:cNvPr id="201" name="Google Shape;201;p24"/>
          <p:cNvSpPr txBox="1"/>
          <p:nvPr/>
        </p:nvSpPr>
        <p:spPr>
          <a:xfrm>
            <a:off x="484789" y="469166"/>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err="1">
                <a:solidFill>
                  <a:srgbClr val="0F172A"/>
                </a:solidFill>
                <a:latin typeface="Noto Sans JP"/>
                <a:ea typeface="Noto Sans JP"/>
                <a:cs typeface="Noto Sans JP"/>
                <a:sym typeface="Noto Sans JP"/>
              </a:rPr>
              <a:t>相対位置：相手はどこにいるか</a:t>
            </a:r>
            <a:r>
              <a:rPr lang="en-US" sz="3000" b="1" i="0" u="none" strike="noStrike" cap="none" dirty="0">
                <a:solidFill>
                  <a:srgbClr val="0F172A"/>
                </a:solidFill>
                <a:latin typeface="Noto Sans JP"/>
                <a:ea typeface="Noto Sans JP"/>
                <a:cs typeface="Noto Sans JP"/>
                <a:sym typeface="Noto Sans JP"/>
              </a:rPr>
              <a:t>？</a:t>
            </a:r>
            <a:endParaRPr dirty="0"/>
          </a:p>
        </p:txBody>
      </p:sp>
      <p:sp>
        <p:nvSpPr>
          <p:cNvPr id="9" name="Google Shape;198;p24">
            <a:extLst>
              <a:ext uri="{FF2B5EF4-FFF2-40B4-BE49-F238E27FC236}">
                <a16:creationId xmlns:a16="http://schemas.microsoft.com/office/drawing/2014/main" id="{5567CC98-99F7-14FF-571C-99E61A6C64E8}"/>
              </a:ext>
            </a:extLst>
          </p:cNvPr>
          <p:cNvSpPr txBox="1"/>
          <p:nvPr/>
        </p:nvSpPr>
        <p:spPr>
          <a:xfrm>
            <a:off x="6938003" y="1252090"/>
            <a:ext cx="5148236" cy="430887"/>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ja-JP" altLang="en-US" sz="2000" dirty="0"/>
              <a:t>例：点</a:t>
            </a:r>
            <a:r>
              <a:rPr lang="en-US" altLang="ja-JP" sz="2000" dirty="0"/>
              <a:t>A(-4,-2),</a:t>
            </a:r>
            <a:r>
              <a:rPr lang="ja-JP" altLang="en-US" sz="2000" dirty="0"/>
              <a:t> 点</a:t>
            </a:r>
            <a:r>
              <a:rPr lang="en-US" altLang="ja-JP" sz="2000" dirty="0"/>
              <a:t>B(2,1)</a:t>
            </a:r>
            <a:r>
              <a:rPr lang="ja-JP" altLang="en-US" sz="2000" dirty="0"/>
              <a:t>とすると</a:t>
            </a:r>
            <a:endParaRPr dirty="0"/>
          </a:p>
        </p:txBody>
      </p:sp>
      <p:sp>
        <p:nvSpPr>
          <p:cNvPr id="11" name="テキスト ボックス 10">
            <a:extLst>
              <a:ext uri="{FF2B5EF4-FFF2-40B4-BE49-F238E27FC236}">
                <a16:creationId xmlns:a16="http://schemas.microsoft.com/office/drawing/2014/main" id="{B85C7832-E867-F3B7-E61B-34C164C3D2F7}"/>
              </a:ext>
            </a:extLst>
          </p:cNvPr>
          <p:cNvSpPr txBox="1"/>
          <p:nvPr/>
        </p:nvSpPr>
        <p:spPr>
          <a:xfrm>
            <a:off x="7362101" y="1974338"/>
            <a:ext cx="3689528" cy="400110"/>
          </a:xfrm>
          <a:prstGeom prst="rect">
            <a:avLst/>
          </a:prstGeom>
          <a:noFill/>
        </p:spPr>
        <p:txBody>
          <a:bodyPr wrap="square">
            <a:spAutoFit/>
          </a:bodyPr>
          <a:lstStyle/>
          <a:p>
            <a:r>
              <a:rPr lang="ja-JP" altLang="en-US" sz="2000" dirty="0">
                <a:latin typeface="+mj-lt"/>
              </a:rPr>
              <a:t>・</a:t>
            </a:r>
            <a:r>
              <a:rPr lang="ja-JP" altLang="en-US" sz="2000" b="0" i="0" dirty="0">
                <a:effectLst/>
                <a:latin typeface="+mj-lt"/>
              </a:rPr>
              <a:t>点</a:t>
            </a:r>
            <a:r>
              <a:rPr lang="en-US" altLang="ja-JP" sz="2000" b="0" i="1" dirty="0">
                <a:effectLst/>
                <a:latin typeface="+mj-lt"/>
              </a:rPr>
              <a:t>A</a:t>
            </a:r>
            <a:r>
              <a:rPr lang="ja-JP" altLang="en-US" sz="2000" b="0" i="0" dirty="0">
                <a:effectLst/>
                <a:latin typeface="+mj-lt"/>
              </a:rPr>
              <a:t>から見た点</a:t>
            </a:r>
            <a:r>
              <a:rPr lang="en-US" altLang="ja-JP" sz="2000" b="0" i="1" dirty="0">
                <a:effectLst/>
                <a:latin typeface="+mj-lt"/>
              </a:rPr>
              <a:t>B</a:t>
            </a:r>
            <a:r>
              <a:rPr lang="ja-JP" altLang="en-US" sz="2000" b="0" i="1" dirty="0">
                <a:effectLst/>
                <a:latin typeface="+mj-lt"/>
              </a:rPr>
              <a:t>の相対位置</a:t>
            </a:r>
            <a:endParaRPr lang="ja-JP" altLang="en-US" sz="2000" dirty="0">
              <a:latin typeface="+mj-lt"/>
            </a:endParaRPr>
          </a:p>
        </p:txBody>
      </p:sp>
      <p:sp>
        <p:nvSpPr>
          <p:cNvPr id="12" name="テキスト ボックス 11">
            <a:extLst>
              <a:ext uri="{FF2B5EF4-FFF2-40B4-BE49-F238E27FC236}">
                <a16:creationId xmlns:a16="http://schemas.microsoft.com/office/drawing/2014/main" id="{F7309373-5EFE-35A6-F33E-2E0417A181D1}"/>
              </a:ext>
            </a:extLst>
          </p:cNvPr>
          <p:cNvSpPr txBox="1"/>
          <p:nvPr/>
        </p:nvSpPr>
        <p:spPr>
          <a:xfrm>
            <a:off x="8783652" y="2547909"/>
            <a:ext cx="1133644" cy="646331"/>
          </a:xfrm>
          <a:prstGeom prst="rect">
            <a:avLst/>
          </a:prstGeom>
          <a:noFill/>
        </p:spPr>
        <p:txBody>
          <a:bodyPr wrap="none" rtlCol="0">
            <a:spAutoFit/>
          </a:bodyPr>
          <a:lstStyle/>
          <a:p>
            <a:r>
              <a:rPr kumimoji="1" lang="en-US" altLang="ja-JP" sz="3600" dirty="0"/>
              <a:t>(6,3)</a:t>
            </a:r>
            <a:endParaRPr kumimoji="1" lang="ja-JP" altLang="en-US" sz="1800" dirty="0"/>
          </a:p>
        </p:txBody>
      </p:sp>
      <p:sp>
        <p:nvSpPr>
          <p:cNvPr id="15" name="テキスト ボックス 14">
            <a:extLst>
              <a:ext uri="{FF2B5EF4-FFF2-40B4-BE49-F238E27FC236}">
                <a16:creationId xmlns:a16="http://schemas.microsoft.com/office/drawing/2014/main" id="{DA29FAC5-631F-90D3-3251-DDC06C070DBF}"/>
              </a:ext>
            </a:extLst>
          </p:cNvPr>
          <p:cNvSpPr txBox="1"/>
          <p:nvPr/>
        </p:nvSpPr>
        <p:spPr>
          <a:xfrm>
            <a:off x="7362101" y="3881441"/>
            <a:ext cx="3689528" cy="400110"/>
          </a:xfrm>
          <a:prstGeom prst="rect">
            <a:avLst/>
          </a:prstGeom>
          <a:noFill/>
        </p:spPr>
        <p:txBody>
          <a:bodyPr wrap="square">
            <a:spAutoFit/>
          </a:bodyPr>
          <a:lstStyle/>
          <a:p>
            <a:r>
              <a:rPr lang="ja-JP" altLang="en-US" sz="2000" dirty="0">
                <a:latin typeface="+mj-lt"/>
              </a:rPr>
              <a:t>・</a:t>
            </a:r>
            <a:r>
              <a:rPr lang="ja-JP" altLang="en-US" sz="2000" b="0" i="0" dirty="0">
                <a:effectLst/>
                <a:latin typeface="+mj-lt"/>
              </a:rPr>
              <a:t>点</a:t>
            </a:r>
            <a:r>
              <a:rPr lang="en-US" altLang="ja-JP" sz="2000" i="1" dirty="0">
                <a:latin typeface="+mj-lt"/>
              </a:rPr>
              <a:t>B</a:t>
            </a:r>
            <a:r>
              <a:rPr lang="ja-JP" altLang="en-US" sz="2000" b="0" i="0" dirty="0">
                <a:effectLst/>
                <a:latin typeface="+mj-lt"/>
              </a:rPr>
              <a:t>から見た点</a:t>
            </a:r>
            <a:r>
              <a:rPr lang="en-US" altLang="ja-JP" sz="2000" i="1" dirty="0">
                <a:latin typeface="+mj-lt"/>
              </a:rPr>
              <a:t>A</a:t>
            </a:r>
            <a:r>
              <a:rPr lang="ja-JP" altLang="en-US" sz="2000" b="0" i="1" dirty="0">
                <a:effectLst/>
                <a:latin typeface="+mj-lt"/>
              </a:rPr>
              <a:t>の相対位置</a:t>
            </a:r>
            <a:endParaRPr lang="ja-JP" altLang="en-US" sz="2000" dirty="0">
              <a:latin typeface="+mj-lt"/>
            </a:endParaRPr>
          </a:p>
        </p:txBody>
      </p:sp>
      <p:sp>
        <p:nvSpPr>
          <p:cNvPr id="16" name="テキスト ボックス 15">
            <a:extLst>
              <a:ext uri="{FF2B5EF4-FFF2-40B4-BE49-F238E27FC236}">
                <a16:creationId xmlns:a16="http://schemas.microsoft.com/office/drawing/2014/main" id="{D6B175FA-5933-B3C2-7377-D4F24ED699A7}"/>
              </a:ext>
            </a:extLst>
          </p:cNvPr>
          <p:cNvSpPr txBox="1"/>
          <p:nvPr/>
        </p:nvSpPr>
        <p:spPr>
          <a:xfrm>
            <a:off x="8783652" y="4455012"/>
            <a:ext cx="1441420" cy="646331"/>
          </a:xfrm>
          <a:prstGeom prst="rect">
            <a:avLst/>
          </a:prstGeom>
          <a:noFill/>
        </p:spPr>
        <p:txBody>
          <a:bodyPr wrap="none" rtlCol="0">
            <a:spAutoFit/>
          </a:bodyPr>
          <a:lstStyle/>
          <a:p>
            <a:r>
              <a:rPr kumimoji="1" lang="en-US" altLang="ja-JP" sz="3600" dirty="0"/>
              <a:t>(-6,-3)</a:t>
            </a:r>
            <a:endParaRPr kumimoji="1" lang="ja-JP" alt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AA4795B7-71EA-3B1C-E01B-DCEEEC1F562A}"/>
            </a:ext>
          </a:extLst>
        </p:cNvPr>
        <p:cNvGrpSpPr/>
        <p:nvPr/>
      </p:nvGrpSpPr>
      <p:grpSpPr>
        <a:xfrm>
          <a:off x="0" y="0"/>
          <a:ext cx="0" cy="0"/>
          <a:chOff x="0" y="0"/>
          <a:chExt cx="0" cy="0"/>
        </a:xfrm>
      </p:grpSpPr>
      <p:pic>
        <p:nvPicPr>
          <p:cNvPr id="196" name="Google Shape;196;p24" descr="image.png">
            <a:extLst>
              <a:ext uri="{FF2B5EF4-FFF2-40B4-BE49-F238E27FC236}">
                <a16:creationId xmlns:a16="http://schemas.microsoft.com/office/drawing/2014/main" id="{7D9BFC0B-D878-EF54-2418-1B174F142831}"/>
              </a:ext>
            </a:extLst>
          </p:cNvPr>
          <p:cNvPicPr preferRelativeResize="0"/>
          <p:nvPr/>
        </p:nvPicPr>
        <p:blipFill rotWithShape="1">
          <a:blip r:embed="rId3">
            <a:alphaModFix/>
          </a:blip>
          <a:srcRect/>
          <a:stretch/>
        </p:blipFill>
        <p:spPr>
          <a:xfrm>
            <a:off x="484789" y="2871074"/>
            <a:ext cx="5590067" cy="3332657"/>
          </a:xfrm>
          <a:prstGeom prst="rect">
            <a:avLst/>
          </a:prstGeom>
          <a:noFill/>
          <a:ln>
            <a:noFill/>
          </a:ln>
        </p:spPr>
      </p:pic>
      <p:sp>
        <p:nvSpPr>
          <p:cNvPr id="197" name="Google Shape;197;p24">
            <a:extLst>
              <a:ext uri="{FF2B5EF4-FFF2-40B4-BE49-F238E27FC236}">
                <a16:creationId xmlns:a16="http://schemas.microsoft.com/office/drawing/2014/main" id="{757E1E47-DB4A-25E8-FCEB-FE9E6F58D3F1}"/>
              </a:ext>
            </a:extLst>
          </p:cNvPr>
          <p:cNvSpPr txBox="1"/>
          <p:nvPr/>
        </p:nvSpPr>
        <p:spPr>
          <a:xfrm>
            <a:off x="484789" y="1341385"/>
            <a:ext cx="5871831" cy="861774"/>
          </a:xfrm>
          <a:prstGeom prst="rect">
            <a:avLst/>
          </a:prstGeom>
          <a:noFill/>
          <a:ln>
            <a:noFill/>
          </a:ln>
        </p:spPr>
        <p:txBody>
          <a:bodyPr spcFirstLastPara="1" wrap="square" lIns="0" tIns="0" rIns="0" bIns="0" anchor="t" anchorCtr="0">
            <a:spAutoFit/>
          </a:bodyPr>
          <a:lstStyle/>
          <a:p>
            <a:pPr lvl="0">
              <a:lnSpc>
                <a:spcPct val="140000"/>
              </a:lnSpc>
            </a:pPr>
            <a:r>
              <a:rPr lang="en-US" altLang="ja-JP" sz="2000" dirty="0"/>
              <a:t>A</a:t>
            </a:r>
            <a:r>
              <a:rPr lang="ja-JP" altLang="en-US" sz="2000" dirty="0"/>
              <a:t>点から</a:t>
            </a:r>
            <a:r>
              <a:rPr lang="en-US" altLang="ja-JP" sz="2000" dirty="0"/>
              <a:t>B</a:t>
            </a:r>
            <a:r>
              <a:rPr lang="ja-JP" altLang="en-US" sz="2000" dirty="0"/>
              <a:t>点へ任意の時間で動く運動を考える。</a:t>
            </a:r>
            <a:endParaRPr lang="en-US" altLang="ja-JP" sz="2000" dirty="0"/>
          </a:p>
          <a:p>
            <a:pPr lvl="0">
              <a:lnSpc>
                <a:spcPct val="140000"/>
              </a:lnSpc>
            </a:pPr>
            <a:r>
              <a:rPr lang="en-US" altLang="ja-JP" sz="2000" dirty="0"/>
              <a:t>n</a:t>
            </a:r>
            <a:r>
              <a:rPr lang="ja-JP" altLang="en-US" sz="2000" dirty="0"/>
              <a:t>秒での移動を考える際は以下の手順で行う。</a:t>
            </a:r>
            <a:endParaRPr sz="2400" dirty="0"/>
          </a:p>
        </p:txBody>
      </p:sp>
      <p:sp>
        <p:nvSpPr>
          <p:cNvPr id="201" name="Google Shape;201;p24">
            <a:extLst>
              <a:ext uri="{FF2B5EF4-FFF2-40B4-BE49-F238E27FC236}">
                <a16:creationId xmlns:a16="http://schemas.microsoft.com/office/drawing/2014/main" id="{EE8F22BB-59AC-B02D-1C25-464F62DA5E25}"/>
              </a:ext>
            </a:extLst>
          </p:cNvPr>
          <p:cNvSpPr txBox="1"/>
          <p:nvPr/>
        </p:nvSpPr>
        <p:spPr>
          <a:xfrm>
            <a:off x="484789" y="469166"/>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ja-JP" sz="3200" dirty="0"/>
              <a:t>A</a:t>
            </a:r>
            <a:r>
              <a:rPr lang="ja-JP" altLang="en-US" sz="3200" dirty="0"/>
              <a:t>点から</a:t>
            </a:r>
            <a:r>
              <a:rPr lang="en-US" altLang="ja-JP" sz="3200" dirty="0"/>
              <a:t>B</a:t>
            </a:r>
            <a:r>
              <a:rPr lang="ja-JP" altLang="en-US" sz="3200" dirty="0"/>
              <a:t>点への移動</a:t>
            </a:r>
          </a:p>
        </p:txBody>
      </p:sp>
      <p:sp>
        <p:nvSpPr>
          <p:cNvPr id="9" name="Google Shape;198;p24">
            <a:extLst>
              <a:ext uri="{FF2B5EF4-FFF2-40B4-BE49-F238E27FC236}">
                <a16:creationId xmlns:a16="http://schemas.microsoft.com/office/drawing/2014/main" id="{2F1F5C11-6F84-4833-887F-E41E7B18A663}"/>
              </a:ext>
            </a:extLst>
          </p:cNvPr>
          <p:cNvSpPr txBox="1"/>
          <p:nvPr/>
        </p:nvSpPr>
        <p:spPr>
          <a:xfrm>
            <a:off x="6677872" y="1252090"/>
            <a:ext cx="5148236" cy="861774"/>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ja-JP" altLang="en-US" sz="2000" dirty="0"/>
              <a:t>例：</a:t>
            </a:r>
            <a:r>
              <a:rPr lang="en-US" altLang="ja-JP" sz="2000" dirty="0"/>
              <a:t>A(1,4),B(-4,6)</a:t>
            </a:r>
            <a:r>
              <a:rPr lang="ja-JP" altLang="en-US" sz="2000" dirty="0"/>
              <a:t>であり</a:t>
            </a:r>
            <a:endParaRPr lang="en-US" altLang="ja-JP" sz="2000" dirty="0"/>
          </a:p>
          <a:p>
            <a:pPr marL="0" marR="0" lvl="0" indent="0" rtl="0">
              <a:lnSpc>
                <a:spcPct val="140000"/>
              </a:lnSpc>
              <a:spcBef>
                <a:spcPts val="0"/>
              </a:spcBef>
              <a:spcAft>
                <a:spcPts val="0"/>
              </a:spcAft>
              <a:buNone/>
            </a:pPr>
            <a:r>
              <a:rPr lang="ja-JP" altLang="en-US" sz="2000" dirty="0"/>
              <a:t>　　</a:t>
            </a:r>
            <a:r>
              <a:rPr lang="en-US" altLang="ja-JP" sz="2000" dirty="0"/>
              <a:t>AB</a:t>
            </a:r>
            <a:r>
              <a:rPr lang="ja-JP" altLang="en-US" sz="2000" dirty="0"/>
              <a:t>間を</a:t>
            </a:r>
            <a:r>
              <a:rPr lang="en-US" altLang="ja-JP" sz="2000" dirty="0"/>
              <a:t>2</a:t>
            </a:r>
            <a:r>
              <a:rPr lang="ja-JP" altLang="en-US" sz="2000" dirty="0"/>
              <a:t>秒で移動する運動を考える</a:t>
            </a:r>
            <a:endParaRPr dirty="0"/>
          </a:p>
        </p:txBody>
      </p:sp>
      <p:sp>
        <p:nvSpPr>
          <p:cNvPr id="2" name="テキスト ボックス 1">
            <a:extLst>
              <a:ext uri="{FF2B5EF4-FFF2-40B4-BE49-F238E27FC236}">
                <a16:creationId xmlns:a16="http://schemas.microsoft.com/office/drawing/2014/main" id="{3BA5286F-0E66-DFA6-AACD-5CEBCFA92258}"/>
              </a:ext>
            </a:extLst>
          </p:cNvPr>
          <p:cNvSpPr txBox="1"/>
          <p:nvPr/>
        </p:nvSpPr>
        <p:spPr>
          <a:xfrm>
            <a:off x="484789" y="3547071"/>
            <a:ext cx="5771132" cy="1815882"/>
          </a:xfrm>
          <a:prstGeom prst="rect">
            <a:avLst/>
          </a:prstGeom>
          <a:noFill/>
        </p:spPr>
        <p:txBody>
          <a:bodyPr wrap="none" rtlCol="0">
            <a:spAutoFit/>
          </a:bodyPr>
          <a:lstStyle/>
          <a:p>
            <a:r>
              <a:rPr lang="ja-JP" altLang="en-US" sz="2800" dirty="0"/>
              <a:t>・</a:t>
            </a:r>
            <a:r>
              <a:rPr lang="en-US" altLang="ja-JP" sz="2800" dirty="0"/>
              <a:t>x</a:t>
            </a:r>
            <a:r>
              <a:rPr lang="ja-JP" altLang="en-US" sz="2800" dirty="0"/>
              <a:t>方向の相対位置を出す</a:t>
            </a:r>
            <a:endParaRPr lang="en-US" altLang="ja-JP" sz="2800" dirty="0"/>
          </a:p>
          <a:p>
            <a:r>
              <a:rPr lang="ja-JP" altLang="en-US" sz="2800" dirty="0"/>
              <a:t>・</a:t>
            </a:r>
            <a:r>
              <a:rPr lang="en-US" altLang="ja-JP" sz="2800" dirty="0"/>
              <a:t>y</a:t>
            </a:r>
            <a:r>
              <a:rPr lang="ja-JP" altLang="en-US" sz="2800" dirty="0"/>
              <a:t>方向の相対位置を出す。</a:t>
            </a:r>
            <a:br>
              <a:rPr lang="ja-JP" altLang="en-US" sz="2800" dirty="0"/>
            </a:br>
            <a:r>
              <a:rPr lang="ja-JP" altLang="en-US" sz="2800" dirty="0"/>
              <a:t>・</a:t>
            </a:r>
            <a:r>
              <a:rPr lang="en-US" altLang="ja-JP" sz="2800" dirty="0"/>
              <a:t>n</a:t>
            </a:r>
            <a:r>
              <a:rPr lang="ja-JP" altLang="en-US" sz="2800" dirty="0"/>
              <a:t>で割り、</a:t>
            </a:r>
            <a:endParaRPr lang="en-US" altLang="ja-JP" sz="2800" dirty="0"/>
          </a:p>
          <a:p>
            <a:r>
              <a:rPr lang="ja-JP" altLang="en-US" sz="2800" dirty="0"/>
              <a:t>　</a:t>
            </a:r>
            <a:r>
              <a:rPr lang="en-US" altLang="ja-JP" sz="2800" dirty="0"/>
              <a:t>1</a:t>
            </a:r>
            <a:r>
              <a:rPr lang="ja-JP" altLang="en-US" sz="2800" dirty="0"/>
              <a:t>秒間あたりの移動方向を出す。</a:t>
            </a:r>
            <a:endParaRPr kumimoji="1" lang="ja-JP" altLang="en-US" sz="2800" dirty="0"/>
          </a:p>
        </p:txBody>
      </p:sp>
      <p:sp>
        <p:nvSpPr>
          <p:cNvPr id="4" name="テキスト ボックス 3">
            <a:extLst>
              <a:ext uri="{FF2B5EF4-FFF2-40B4-BE49-F238E27FC236}">
                <a16:creationId xmlns:a16="http://schemas.microsoft.com/office/drawing/2014/main" id="{231AD542-5D7F-CE4F-82A5-21F22BC27DEC}"/>
              </a:ext>
            </a:extLst>
          </p:cNvPr>
          <p:cNvSpPr txBox="1"/>
          <p:nvPr/>
        </p:nvSpPr>
        <p:spPr>
          <a:xfrm>
            <a:off x="7225136" y="2364869"/>
            <a:ext cx="4053708" cy="1323439"/>
          </a:xfrm>
          <a:prstGeom prst="rect">
            <a:avLst/>
          </a:prstGeom>
          <a:noFill/>
        </p:spPr>
        <p:txBody>
          <a:bodyPr wrap="square">
            <a:spAutoFit/>
          </a:bodyPr>
          <a:lstStyle/>
          <a:p>
            <a:r>
              <a:rPr lang="en-US" altLang="ja-JP" sz="2000" b="0" i="1" dirty="0">
                <a:effectLst/>
                <a:latin typeface="+mj-lt"/>
              </a:rPr>
              <a:t>x</a:t>
            </a:r>
            <a:r>
              <a:rPr lang="ja-JP" altLang="en-US" sz="2000" b="0" i="0" dirty="0">
                <a:effectLst/>
                <a:latin typeface="+mj-lt"/>
              </a:rPr>
              <a:t>方向の相対位置</a:t>
            </a:r>
            <a:endParaRPr lang="en-US" altLang="ja-JP" sz="2000" b="0" i="0" dirty="0">
              <a:effectLst/>
              <a:latin typeface="+mj-lt"/>
            </a:endParaRPr>
          </a:p>
          <a:p>
            <a:r>
              <a:rPr lang="ja-JP" altLang="en-US" sz="2000" dirty="0">
                <a:latin typeface="+mj-lt"/>
              </a:rPr>
              <a:t>　</a:t>
            </a:r>
            <a:r>
              <a:rPr lang="en-US" altLang="ja-JP" sz="2000" b="0" i="0" dirty="0">
                <a:effectLst/>
                <a:latin typeface="+mj-lt"/>
              </a:rPr>
              <a:t>(−4−1)=−5</a:t>
            </a:r>
          </a:p>
          <a:p>
            <a:r>
              <a:rPr lang="en-US" altLang="ja-JP" sz="2000" b="0" i="1" dirty="0">
                <a:effectLst/>
                <a:latin typeface="+mj-lt"/>
              </a:rPr>
              <a:t>y</a:t>
            </a:r>
            <a:r>
              <a:rPr lang="ja-JP" altLang="en-US" sz="2000" b="0" i="0" dirty="0">
                <a:effectLst/>
                <a:latin typeface="+mj-lt"/>
              </a:rPr>
              <a:t>方向の相対位置</a:t>
            </a:r>
            <a:endParaRPr lang="en-US" altLang="ja-JP" sz="2000" b="0" i="0" dirty="0">
              <a:effectLst/>
              <a:latin typeface="+mj-lt"/>
            </a:endParaRPr>
          </a:p>
          <a:p>
            <a:r>
              <a:rPr lang="ja-JP" altLang="en-US" sz="2000" dirty="0">
                <a:latin typeface="+mj-lt"/>
              </a:rPr>
              <a:t>　</a:t>
            </a:r>
            <a:r>
              <a:rPr lang="en-US" altLang="ja-JP" sz="2000" b="0" i="0" dirty="0">
                <a:effectLst/>
                <a:latin typeface="+mj-lt"/>
              </a:rPr>
              <a:t>(6−4)=2</a:t>
            </a:r>
            <a:endParaRPr lang="ja-JP" altLang="en-US" sz="2000" dirty="0">
              <a:latin typeface="+mj-lt"/>
            </a:endParaRPr>
          </a:p>
        </p:txBody>
      </p:sp>
      <p:sp>
        <p:nvSpPr>
          <p:cNvPr id="5" name="テキスト ボックス 4">
            <a:extLst>
              <a:ext uri="{FF2B5EF4-FFF2-40B4-BE49-F238E27FC236}">
                <a16:creationId xmlns:a16="http://schemas.microsoft.com/office/drawing/2014/main" id="{F6DDF7E1-E3F2-3F95-BC0E-6DE66F01ABC6}"/>
              </a:ext>
            </a:extLst>
          </p:cNvPr>
          <p:cNvSpPr txBox="1"/>
          <p:nvPr/>
        </p:nvSpPr>
        <p:spPr>
          <a:xfrm>
            <a:off x="7225136" y="3856452"/>
            <a:ext cx="4053708" cy="1938992"/>
          </a:xfrm>
          <a:prstGeom prst="rect">
            <a:avLst/>
          </a:prstGeom>
          <a:noFill/>
        </p:spPr>
        <p:txBody>
          <a:bodyPr wrap="square">
            <a:spAutoFit/>
          </a:bodyPr>
          <a:lstStyle/>
          <a:p>
            <a:r>
              <a:rPr lang="ja-JP" altLang="en-US" sz="2000" b="0" dirty="0">
                <a:effectLst/>
                <a:latin typeface="+mj-lt"/>
              </a:rPr>
              <a:t>であるので、</a:t>
            </a:r>
            <a:endParaRPr lang="en-US" altLang="ja-JP" sz="2000" b="0" dirty="0">
              <a:effectLst/>
              <a:latin typeface="+mj-lt"/>
            </a:endParaRPr>
          </a:p>
          <a:p>
            <a:br>
              <a:rPr lang="en-US" altLang="ja-JP" sz="2000" b="0" dirty="0">
                <a:effectLst/>
                <a:latin typeface="+mj-lt"/>
              </a:rPr>
            </a:br>
            <a:r>
              <a:rPr lang="en-US" altLang="ja-JP" sz="2000" b="0" dirty="0">
                <a:effectLst/>
                <a:latin typeface="+mj-lt"/>
              </a:rPr>
              <a:t>x</a:t>
            </a:r>
            <a:r>
              <a:rPr lang="ja-JP" altLang="en-US" sz="2000" b="0" dirty="0">
                <a:effectLst/>
                <a:latin typeface="+mj-lt"/>
              </a:rPr>
              <a:t>方向に−</a:t>
            </a:r>
            <a:r>
              <a:rPr lang="en-US" altLang="ja-JP" sz="2000" b="0" dirty="0">
                <a:effectLst/>
                <a:latin typeface="+mj-lt"/>
              </a:rPr>
              <a:t>5/2</a:t>
            </a:r>
            <a:endParaRPr lang="en-US" altLang="ja-JP" sz="2000" dirty="0">
              <a:latin typeface="+mj-lt"/>
            </a:endParaRPr>
          </a:p>
          <a:p>
            <a:r>
              <a:rPr lang="en-US" altLang="ja-JP" sz="2000" b="0" dirty="0">
                <a:effectLst/>
                <a:latin typeface="+mj-lt"/>
              </a:rPr>
              <a:t>y</a:t>
            </a:r>
            <a:r>
              <a:rPr lang="ja-JP" altLang="en-US" sz="2000" b="0" dirty="0">
                <a:effectLst/>
                <a:latin typeface="+mj-lt"/>
              </a:rPr>
              <a:t>方向に</a:t>
            </a:r>
            <a:r>
              <a:rPr lang="en-US" altLang="ja-JP" sz="2000" b="0" dirty="0">
                <a:effectLst/>
                <a:latin typeface="+mj-lt"/>
              </a:rPr>
              <a:t>1</a:t>
            </a:r>
            <a:endParaRPr lang="en-US" altLang="ja-JP" sz="2000" dirty="0">
              <a:latin typeface="+mj-lt"/>
            </a:endParaRPr>
          </a:p>
          <a:p>
            <a:endParaRPr lang="en-US" altLang="ja-JP" sz="2000" b="0" dirty="0">
              <a:effectLst/>
              <a:latin typeface="+mj-lt"/>
            </a:endParaRPr>
          </a:p>
          <a:p>
            <a:r>
              <a:rPr lang="en-US" altLang="ja-JP" sz="2000" b="0" dirty="0">
                <a:effectLst/>
                <a:latin typeface="+mj-lt"/>
              </a:rPr>
              <a:t>1</a:t>
            </a:r>
            <a:r>
              <a:rPr lang="ja-JP" altLang="en-US" sz="2000" b="0" dirty="0">
                <a:effectLst/>
                <a:latin typeface="+mj-lt"/>
              </a:rPr>
              <a:t>秒ごとに移動する運動である</a:t>
            </a:r>
            <a:endParaRPr lang="ja-JP" altLang="en-US" sz="2400" dirty="0">
              <a:latin typeface="+mj-lt"/>
            </a:endParaRPr>
          </a:p>
        </p:txBody>
      </p:sp>
    </p:spTree>
    <p:extLst>
      <p:ext uri="{BB962C8B-B14F-4D97-AF65-F5344CB8AC3E}">
        <p14:creationId xmlns:p14="http://schemas.microsoft.com/office/powerpoint/2010/main" val="2331119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05"/>
        <p:cNvGrpSpPr/>
        <p:nvPr/>
      </p:nvGrpSpPr>
      <p:grpSpPr>
        <a:xfrm>
          <a:off x="0" y="0"/>
          <a:ext cx="0" cy="0"/>
          <a:chOff x="0" y="0"/>
          <a:chExt cx="0" cy="0"/>
        </a:xfrm>
      </p:grpSpPr>
      <p:sp>
        <p:nvSpPr>
          <p:cNvPr id="207" name="Google Shape;207;p25"/>
          <p:cNvSpPr/>
          <p:nvPr/>
        </p:nvSpPr>
        <p:spPr>
          <a:xfrm>
            <a:off x="5524500" y="2919412"/>
            <a:ext cx="1143000" cy="57150"/>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25"/>
          <p:cNvSpPr txBox="1"/>
          <p:nvPr/>
        </p:nvSpPr>
        <p:spPr>
          <a:xfrm>
            <a:off x="3645693" y="3262312"/>
            <a:ext cx="4900612" cy="80791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dirty="0">
                <a:solidFill>
                  <a:srgbClr val="005088"/>
                </a:solidFill>
                <a:latin typeface="+mj-lt"/>
                <a:ea typeface="Noto Sans JP"/>
                <a:cs typeface="Noto Sans JP"/>
                <a:sym typeface="Noto Sans JP"/>
              </a:rPr>
              <a:t>円の当たり判定</a:t>
            </a:r>
            <a:endParaRPr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2"/>
        <p:cNvGrpSpPr/>
        <p:nvPr/>
      </p:nvGrpSpPr>
      <p:grpSpPr>
        <a:xfrm>
          <a:off x="0" y="0"/>
          <a:ext cx="0" cy="0"/>
          <a:chOff x="0" y="0"/>
          <a:chExt cx="0" cy="0"/>
        </a:xfrm>
      </p:grpSpPr>
      <p:pic>
        <p:nvPicPr>
          <p:cNvPr id="3" name="図 2">
            <a:extLst>
              <a:ext uri="{FF2B5EF4-FFF2-40B4-BE49-F238E27FC236}">
                <a16:creationId xmlns:a16="http://schemas.microsoft.com/office/drawing/2014/main" id="{CCA8CAF9-F9CF-1FAE-E1D7-8105778065A0}"/>
              </a:ext>
            </a:extLst>
          </p:cNvPr>
          <p:cNvPicPr>
            <a:picLocks noChangeAspect="1"/>
          </p:cNvPicPr>
          <p:nvPr/>
        </p:nvPicPr>
        <p:blipFill>
          <a:blip r:embed="rId3"/>
          <a:stretch>
            <a:fillRect/>
          </a:stretch>
        </p:blipFill>
        <p:spPr>
          <a:xfrm>
            <a:off x="1678113" y="1171873"/>
            <a:ext cx="8429625" cy="3590925"/>
          </a:xfrm>
          <a:prstGeom prst="rect">
            <a:avLst/>
          </a:prstGeom>
        </p:spPr>
      </p:pic>
      <p:sp>
        <p:nvSpPr>
          <p:cNvPr id="4" name="テキスト ボックス 3">
            <a:extLst>
              <a:ext uri="{FF2B5EF4-FFF2-40B4-BE49-F238E27FC236}">
                <a16:creationId xmlns:a16="http://schemas.microsoft.com/office/drawing/2014/main" id="{FCA1280B-7C29-9739-1B6F-842FE2B3FA53}"/>
              </a:ext>
            </a:extLst>
          </p:cNvPr>
          <p:cNvSpPr txBox="1"/>
          <p:nvPr/>
        </p:nvSpPr>
        <p:spPr>
          <a:xfrm>
            <a:off x="1540907" y="4822441"/>
            <a:ext cx="9110186" cy="830997"/>
          </a:xfrm>
          <a:prstGeom prst="rect">
            <a:avLst/>
          </a:prstGeom>
          <a:noFill/>
        </p:spPr>
        <p:txBody>
          <a:bodyPr wrap="none" rtlCol="0">
            <a:spAutoFit/>
          </a:bodyPr>
          <a:lstStyle/>
          <a:p>
            <a:r>
              <a:rPr lang="ja-JP" altLang="en-US" sz="2400" dirty="0"/>
              <a:t>当たり判定を作りたい物体の中心点を決め、そこから円を作成。</a:t>
            </a:r>
            <a:br>
              <a:rPr lang="en-US" altLang="ja-JP" sz="2400" dirty="0"/>
            </a:br>
            <a:r>
              <a:rPr lang="ja-JP" altLang="en-US" sz="2400" dirty="0"/>
              <a:t>作成した円と円が接触したとき、当たったと分かれば良い。</a:t>
            </a:r>
            <a:endParaRPr kumimoji="1" lang="ja-JP" altLang="en-US" sz="2400" dirty="0"/>
          </a:p>
        </p:txBody>
      </p:sp>
      <p:sp>
        <p:nvSpPr>
          <p:cNvPr id="5" name="Google Shape;221;p26">
            <a:extLst>
              <a:ext uri="{FF2B5EF4-FFF2-40B4-BE49-F238E27FC236}">
                <a16:creationId xmlns:a16="http://schemas.microsoft.com/office/drawing/2014/main" id="{D49BD075-2DA6-5467-646D-59E58F6044F2}"/>
              </a:ext>
            </a:extLst>
          </p:cNvPr>
          <p:cNvSpPr txBox="1"/>
          <p:nvPr/>
        </p:nvSpPr>
        <p:spPr>
          <a:xfrm>
            <a:off x="484789" y="532229"/>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ja-JP" altLang="en-US" sz="3200" b="1" dirty="0">
                <a:latin typeface="+mj-lt"/>
              </a:rPr>
              <a:t>物体の中心から円を作成</a:t>
            </a:r>
            <a:r>
              <a:rPr lang="en-US" altLang="ja-JP" sz="3200" b="1" dirty="0">
                <a:latin typeface="+mj-lt"/>
              </a:rPr>
              <a:t>1</a:t>
            </a:r>
            <a:endParaRPr sz="3200" b="1"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E3F202C7-0E47-89A8-3F00-F44C860BF6D3}"/>
            </a:ext>
          </a:extLst>
        </p:cNvPr>
        <p:cNvGrpSpPr/>
        <p:nvPr/>
      </p:nvGrpSpPr>
      <p:grpSpPr>
        <a:xfrm>
          <a:off x="0" y="0"/>
          <a:ext cx="0" cy="0"/>
          <a:chOff x="0" y="0"/>
          <a:chExt cx="0" cy="0"/>
        </a:xfrm>
      </p:grpSpPr>
      <p:sp>
        <p:nvSpPr>
          <p:cNvPr id="221" name="Google Shape;221;p26">
            <a:extLst>
              <a:ext uri="{FF2B5EF4-FFF2-40B4-BE49-F238E27FC236}">
                <a16:creationId xmlns:a16="http://schemas.microsoft.com/office/drawing/2014/main" id="{5A20CC7B-52FE-4F58-003B-2C49194FF507}"/>
              </a:ext>
            </a:extLst>
          </p:cNvPr>
          <p:cNvSpPr txBox="1"/>
          <p:nvPr/>
        </p:nvSpPr>
        <p:spPr>
          <a:xfrm>
            <a:off x="484789" y="532229"/>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ja-JP" altLang="en-US" sz="3200" b="1" dirty="0">
                <a:latin typeface="+mj-lt"/>
              </a:rPr>
              <a:t>物体の中心から円を作成</a:t>
            </a:r>
            <a:r>
              <a:rPr lang="en-US" altLang="ja-JP" sz="3200" b="1" dirty="0">
                <a:latin typeface="+mj-lt"/>
              </a:rPr>
              <a:t>2</a:t>
            </a:r>
            <a:endParaRPr sz="3200" b="1" dirty="0">
              <a:latin typeface="+mj-lt"/>
            </a:endParaRPr>
          </a:p>
        </p:txBody>
      </p:sp>
      <p:pic>
        <p:nvPicPr>
          <p:cNvPr id="5" name="図 4">
            <a:extLst>
              <a:ext uri="{FF2B5EF4-FFF2-40B4-BE49-F238E27FC236}">
                <a16:creationId xmlns:a16="http://schemas.microsoft.com/office/drawing/2014/main" id="{5F002C0D-A08F-6A59-0F47-05384DFEA800}"/>
              </a:ext>
            </a:extLst>
          </p:cNvPr>
          <p:cNvPicPr>
            <a:picLocks noChangeAspect="1"/>
          </p:cNvPicPr>
          <p:nvPr/>
        </p:nvPicPr>
        <p:blipFill>
          <a:blip r:embed="rId3"/>
          <a:stretch>
            <a:fillRect/>
          </a:stretch>
        </p:blipFill>
        <p:spPr>
          <a:xfrm>
            <a:off x="2696561" y="1141960"/>
            <a:ext cx="6515100" cy="3314700"/>
          </a:xfrm>
          <a:prstGeom prst="rect">
            <a:avLst/>
          </a:prstGeom>
        </p:spPr>
      </p:pic>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C0A77371-7723-3668-8D85-F1A5D3198732}"/>
                  </a:ext>
                </a:extLst>
              </p:cNvPr>
              <p:cNvSpPr txBox="1"/>
              <p:nvPr/>
            </p:nvSpPr>
            <p:spPr>
              <a:xfrm>
                <a:off x="2370739" y="4779149"/>
                <a:ext cx="8382829" cy="1200329"/>
              </a:xfrm>
              <a:prstGeom prst="rect">
                <a:avLst/>
              </a:prstGeom>
              <a:noFill/>
            </p:spPr>
            <p:txBody>
              <a:bodyPr wrap="square">
                <a:spAutoFit/>
              </a:bodyPr>
              <a:lstStyle/>
              <a:p>
                <a:pPr algn="l">
                  <a:buNone/>
                </a:pPr>
                <a:r>
                  <a:rPr lang="ja-JP" altLang="en-US" sz="2400" b="0" i="0" dirty="0">
                    <a:effectLst/>
                    <a:latin typeface="-apple-system"/>
                  </a:rPr>
                  <a:t>つまり、上記の状態の時が当たっているので</a:t>
                </a:r>
              </a:p>
              <a:p>
                <a:pPr>
                  <a:buNone/>
                </a:pPr>
                <a14:m>
                  <m:oMathPara xmlns:m="http://schemas.openxmlformats.org/officeDocument/2006/math">
                    <m:oMathParaPr>
                      <m:jc m:val="centerGroup"/>
                    </m:oMathParaPr>
                    <m:oMath xmlns:m="http://schemas.openxmlformats.org/officeDocument/2006/math">
                      <m:r>
                        <m:rPr>
                          <m:nor/>
                        </m:rPr>
                        <a:rPr lang="en-US" altLang="ja-JP" sz="2400" b="0">
                          <a:solidFill>
                            <a:srgbClr val="FF0000"/>
                          </a:solidFill>
                        </a:rPr>
                        <m:t>『</m:t>
                      </m:r>
                      <m:r>
                        <m:rPr>
                          <m:nor/>
                        </m:rPr>
                        <a:rPr lang="ja-JP" altLang="en-US" sz="2400" b="0">
                          <a:solidFill>
                            <a:srgbClr val="FF0000"/>
                          </a:solidFill>
                        </a:rPr>
                        <m:t>中心から中心までの距離</m:t>
                      </m:r>
                      <m:r>
                        <m:rPr>
                          <m:nor/>
                        </m:rPr>
                        <a:rPr lang="en-US" altLang="ja-JP" sz="2400" b="0">
                          <a:solidFill>
                            <a:srgbClr val="FF0000"/>
                          </a:solidFill>
                        </a:rPr>
                        <m:t>』</m:t>
                      </m:r>
                      <m:r>
                        <a:rPr lang="ja-JP" altLang="en-US" sz="2400" b="0" i="0">
                          <a:solidFill>
                            <a:srgbClr val="FF0000"/>
                          </a:solidFill>
                          <a:latin typeface="Cambria Math" panose="02040503050406030204" pitchFamily="18" charset="0"/>
                        </a:rPr>
                        <m:t>≦</m:t>
                      </m:r>
                      <m:r>
                        <a:rPr lang="en-US" altLang="ja-JP" sz="2400" b="0" i="0">
                          <a:solidFill>
                            <a:srgbClr val="FF0000"/>
                          </a:solidFill>
                          <a:latin typeface="Cambria Math" panose="02040503050406030204" pitchFamily="18" charset="0"/>
                        </a:rPr>
                        <m:t>2</m:t>
                      </m:r>
                      <m:r>
                        <a:rPr lang="ja-JP" altLang="en-US" sz="2400" b="0" i="1">
                          <a:solidFill>
                            <a:srgbClr val="FF0000"/>
                          </a:solidFill>
                          <a:latin typeface="Cambria Math" panose="02040503050406030204" pitchFamily="18" charset="0"/>
                        </a:rPr>
                        <m:t>𝑟</m:t>
                      </m:r>
                    </m:oMath>
                  </m:oMathPara>
                </a14:m>
                <a:endParaRPr lang="ja-JP" altLang="en-US" sz="2400" b="0" dirty="0">
                  <a:solidFill>
                    <a:srgbClr val="FF0000"/>
                  </a:solidFill>
                </a:endParaRPr>
              </a:p>
              <a:p>
                <a:pPr algn="l">
                  <a:buNone/>
                </a:pPr>
                <a:r>
                  <a:rPr lang="ja-JP" altLang="en-US" sz="2400" b="0" i="0" dirty="0">
                    <a:effectLst/>
                    <a:latin typeface="-apple-system"/>
                  </a:rPr>
                  <a:t>となっていれば２つの物体は当たっていると言える。</a:t>
                </a:r>
              </a:p>
            </p:txBody>
          </p:sp>
        </mc:Choice>
        <mc:Fallback xmlns="">
          <p:sp>
            <p:nvSpPr>
              <p:cNvPr id="7" name="テキスト ボックス 6">
                <a:extLst>
                  <a:ext uri="{FF2B5EF4-FFF2-40B4-BE49-F238E27FC236}">
                    <a16:creationId xmlns:a16="http://schemas.microsoft.com/office/drawing/2014/main" id="{C0A77371-7723-3668-8D85-F1A5D3198732}"/>
                  </a:ext>
                </a:extLst>
              </p:cNvPr>
              <p:cNvSpPr txBox="1">
                <a:spLocks noRot="1" noChangeAspect="1" noMove="1" noResize="1" noEditPoints="1" noAdjustHandles="1" noChangeArrowheads="1" noChangeShapeType="1" noTextEdit="1"/>
              </p:cNvSpPr>
              <p:nvPr/>
            </p:nvSpPr>
            <p:spPr>
              <a:xfrm>
                <a:off x="2370739" y="4779149"/>
                <a:ext cx="8382829" cy="1200329"/>
              </a:xfrm>
              <a:prstGeom prst="rect">
                <a:avLst/>
              </a:prstGeom>
              <a:blipFill>
                <a:blip r:embed="rId4"/>
                <a:stretch>
                  <a:fillRect l="-1164" t="-6091" b="-862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58548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F5E0ED8E-3541-B15B-0F37-43B6572D8FC1}"/>
            </a:ext>
          </a:extLst>
        </p:cNvPr>
        <p:cNvGrpSpPr/>
        <p:nvPr/>
      </p:nvGrpSpPr>
      <p:grpSpPr>
        <a:xfrm>
          <a:off x="0" y="0"/>
          <a:ext cx="0" cy="0"/>
          <a:chOff x="0" y="0"/>
          <a:chExt cx="0" cy="0"/>
        </a:xfrm>
      </p:grpSpPr>
      <p:sp>
        <p:nvSpPr>
          <p:cNvPr id="221" name="Google Shape;221;p26">
            <a:extLst>
              <a:ext uri="{FF2B5EF4-FFF2-40B4-BE49-F238E27FC236}">
                <a16:creationId xmlns:a16="http://schemas.microsoft.com/office/drawing/2014/main" id="{8B1AD708-5E44-2811-966C-CFDA4D9F9A30}"/>
              </a:ext>
            </a:extLst>
          </p:cNvPr>
          <p:cNvSpPr txBox="1"/>
          <p:nvPr/>
        </p:nvSpPr>
        <p:spPr>
          <a:xfrm>
            <a:off x="484789" y="532229"/>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ja-JP" altLang="en-US" sz="3200" b="1" dirty="0">
                <a:latin typeface="+mj-lt"/>
              </a:rPr>
              <a:t>物体の中心から円を作成</a:t>
            </a:r>
            <a:r>
              <a:rPr lang="en-US" altLang="ja-JP" sz="3200" b="1" dirty="0">
                <a:latin typeface="+mj-lt"/>
              </a:rPr>
              <a:t>3</a:t>
            </a:r>
          </a:p>
        </p:txBody>
      </p:sp>
      <mc:AlternateContent xmlns:mc="http://schemas.openxmlformats.org/markup-compatibility/2006">
        <mc:Choice xmlns:a14="http://schemas.microsoft.com/office/drawing/2010/main" Requires="a14">
          <p:sp>
            <p:nvSpPr>
              <p:cNvPr id="7" name="テキスト ボックス 6">
                <a:extLst>
                  <a:ext uri="{FF2B5EF4-FFF2-40B4-BE49-F238E27FC236}">
                    <a16:creationId xmlns:a16="http://schemas.microsoft.com/office/drawing/2014/main" id="{94D16DB0-274D-C6B0-34D4-4BF1ED9312E5}"/>
                  </a:ext>
                </a:extLst>
              </p:cNvPr>
              <p:cNvSpPr txBox="1"/>
              <p:nvPr/>
            </p:nvSpPr>
            <p:spPr>
              <a:xfrm>
                <a:off x="2364561" y="5122280"/>
                <a:ext cx="8382829" cy="954107"/>
              </a:xfrm>
              <a:prstGeom prst="rect">
                <a:avLst/>
              </a:prstGeom>
              <a:noFill/>
            </p:spPr>
            <p:txBody>
              <a:bodyPr wrap="square">
                <a:spAutoFit/>
              </a:bodyPr>
              <a:lstStyle/>
              <a:p>
                <a:pPr algn="l">
                  <a:buNone/>
                </a:pPr>
                <a:r>
                  <a:rPr lang="ja-JP" altLang="en-US" sz="2400" b="0" i="0" dirty="0">
                    <a:effectLst/>
                    <a:latin typeface="+mj-lt"/>
                  </a:rPr>
                  <a:t>一般化すれば、</a:t>
                </a:r>
                <a:endParaRPr lang="en-US" altLang="ja-JP" sz="2400" b="0" dirty="0">
                  <a:solidFill>
                    <a:srgbClr val="FF0000"/>
                  </a:solidFill>
                  <a:latin typeface="+mj-lt"/>
                </a:endParaRPr>
              </a:p>
              <a:p>
                <a:pPr/>
                <a14:m>
                  <m:oMathPara xmlns:m="http://schemas.openxmlformats.org/officeDocument/2006/math">
                    <m:oMathParaPr>
                      <m:jc m:val="centerGroup"/>
                    </m:oMathParaPr>
                    <m:oMath xmlns:m="http://schemas.openxmlformats.org/officeDocument/2006/math">
                      <m:r>
                        <m:rPr>
                          <m:nor/>
                        </m:rPr>
                        <a:rPr lang="en-US" altLang="ja-JP" sz="3200" b="0">
                          <a:solidFill>
                            <a:srgbClr val="FF0000"/>
                          </a:solidFill>
                          <a:latin typeface="+mj-lt"/>
                        </a:rPr>
                        <m:t>『</m:t>
                      </m:r>
                      <m:r>
                        <m:rPr>
                          <m:nor/>
                        </m:rPr>
                        <a:rPr lang="ja-JP" altLang="en-US" sz="3200">
                          <a:solidFill>
                            <a:srgbClr val="FF0000"/>
                          </a:solidFill>
                          <a:latin typeface="+mj-lt"/>
                        </a:rPr>
                        <m:t>中心から中心までの距離</m:t>
                      </m:r>
                      <m:r>
                        <m:rPr>
                          <m:nor/>
                        </m:rPr>
                        <a:rPr lang="en-US" altLang="ja-JP" sz="3200">
                          <a:solidFill>
                            <a:srgbClr val="FF0000"/>
                          </a:solidFill>
                          <a:latin typeface="+mj-lt"/>
                        </a:rPr>
                        <m:t>』</m:t>
                      </m:r>
                      <m:r>
                        <m:rPr>
                          <m:nor/>
                        </m:rPr>
                        <a:rPr lang="en-US" altLang="ja-JP" sz="3200">
                          <a:solidFill>
                            <a:srgbClr val="FF0000"/>
                          </a:solidFill>
                          <a:latin typeface="+mj-lt"/>
                        </a:rPr>
                        <m:t>≦</m:t>
                      </m:r>
                      <m:r>
                        <m:rPr>
                          <m:nor/>
                        </m:rPr>
                        <a:rPr lang="en-US" altLang="ja-JP" sz="3200">
                          <a:solidFill>
                            <a:srgbClr val="FF0000"/>
                          </a:solidFill>
                          <a:latin typeface="+mj-lt"/>
                        </a:rPr>
                        <m:t>r</m:t>
                      </m:r>
                      <m:r>
                        <m:rPr>
                          <m:nor/>
                        </m:rPr>
                        <a:rPr lang="en-US" altLang="ja-JP" sz="3200">
                          <a:solidFill>
                            <a:srgbClr val="FF0000"/>
                          </a:solidFill>
                          <a:latin typeface="+mj-lt"/>
                        </a:rPr>
                        <m:t>+</m:t>
                      </m:r>
                      <m:r>
                        <m:rPr>
                          <m:nor/>
                        </m:rPr>
                        <a:rPr lang="en-US" altLang="ja-JP" sz="3200">
                          <a:solidFill>
                            <a:srgbClr val="FF0000"/>
                          </a:solidFill>
                          <a:latin typeface="+mj-lt"/>
                        </a:rPr>
                        <m:t>R</m:t>
                      </m:r>
                    </m:oMath>
                  </m:oMathPara>
                </a14:m>
                <a:endParaRPr lang="en-US" altLang="ja-JP" sz="3200" i="0" dirty="0">
                  <a:solidFill>
                    <a:srgbClr val="FF0000"/>
                  </a:solidFill>
                  <a:latin typeface="+mj-lt"/>
                </a:endParaRPr>
              </a:p>
            </p:txBody>
          </p:sp>
        </mc:Choice>
        <mc:Fallback>
          <p:sp>
            <p:nvSpPr>
              <p:cNvPr id="7" name="テキスト ボックス 6">
                <a:extLst>
                  <a:ext uri="{FF2B5EF4-FFF2-40B4-BE49-F238E27FC236}">
                    <a16:creationId xmlns:a16="http://schemas.microsoft.com/office/drawing/2014/main" id="{94D16DB0-274D-C6B0-34D4-4BF1ED9312E5}"/>
                  </a:ext>
                </a:extLst>
              </p:cNvPr>
              <p:cNvSpPr txBox="1">
                <a:spLocks noRot="1" noChangeAspect="1" noMove="1" noResize="1" noEditPoints="1" noAdjustHandles="1" noChangeArrowheads="1" noChangeShapeType="1" noTextEdit="1"/>
              </p:cNvSpPr>
              <p:nvPr/>
            </p:nvSpPr>
            <p:spPr>
              <a:xfrm>
                <a:off x="2364561" y="5122280"/>
                <a:ext cx="8382829" cy="954107"/>
              </a:xfrm>
              <a:prstGeom prst="rect">
                <a:avLst/>
              </a:prstGeom>
              <a:blipFill>
                <a:blip r:embed="rId3"/>
                <a:stretch>
                  <a:fillRect l="-1164" t="-7006"/>
                </a:stretch>
              </a:blipFill>
            </p:spPr>
            <p:txBody>
              <a:bodyPr/>
              <a:lstStyle/>
              <a:p>
                <a:r>
                  <a:rPr lang="ja-JP" altLang="en-US">
                    <a:noFill/>
                  </a:rPr>
                  <a:t> </a:t>
                </a:r>
              </a:p>
            </p:txBody>
          </p:sp>
        </mc:Fallback>
      </mc:AlternateContent>
      <p:pic>
        <p:nvPicPr>
          <p:cNvPr id="3" name="図 2">
            <a:extLst>
              <a:ext uri="{FF2B5EF4-FFF2-40B4-BE49-F238E27FC236}">
                <a16:creationId xmlns:a16="http://schemas.microsoft.com/office/drawing/2014/main" id="{39525F20-025A-C595-D171-03BCE5D013BD}"/>
              </a:ext>
            </a:extLst>
          </p:cNvPr>
          <p:cNvPicPr>
            <a:picLocks noChangeAspect="1"/>
          </p:cNvPicPr>
          <p:nvPr/>
        </p:nvPicPr>
        <p:blipFill>
          <a:blip r:embed="rId4"/>
          <a:stretch>
            <a:fillRect/>
          </a:stretch>
        </p:blipFill>
        <p:spPr>
          <a:xfrm>
            <a:off x="2593593" y="1024672"/>
            <a:ext cx="7117712" cy="4010706"/>
          </a:xfrm>
          <a:prstGeom prst="rect">
            <a:avLst/>
          </a:prstGeom>
        </p:spPr>
      </p:pic>
    </p:spTree>
    <p:extLst>
      <p:ext uri="{BB962C8B-B14F-4D97-AF65-F5344CB8AC3E}">
        <p14:creationId xmlns:p14="http://schemas.microsoft.com/office/powerpoint/2010/main" val="414400048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653</Words>
  <Application>Microsoft Office PowerPoint</Application>
  <PresentationFormat>ワイド画面</PresentationFormat>
  <Paragraphs>84</Paragraphs>
  <Slides>20</Slides>
  <Notes>20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20</vt:i4>
      </vt:variant>
    </vt:vector>
  </HeadingPairs>
  <TitlesOfParts>
    <vt:vector size="28" baseType="lpstr">
      <vt:lpstr>Arial</vt:lpstr>
      <vt:lpstr>Noto Sans JP</vt:lpstr>
      <vt:lpstr>Inter</vt:lpstr>
      <vt:lpstr>Cambria Math</vt:lpstr>
      <vt:lpstr>Poppins</vt:lpstr>
      <vt:lpstr>-apple-system</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内藤真広</dc:creator>
  <cp:lastModifiedBy>内藤 真広</cp:lastModifiedBy>
  <cp:revision>101</cp:revision>
  <dcterms:modified xsi:type="dcterms:W3CDTF">2026-04-30T15:54:26Z</dcterms:modified>
</cp:coreProperties>
</file>